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" panose="020F0502020204030204"/>
      <p:regular r:id="rId17"/>
    </p:embeddedFont>
    <p:embeddedFont>
      <p:font typeface="Calibri (MS) Bold" panose="020F0702030404030204"/>
      <p:regular r:id="rId18"/>
    </p:embeddedFont>
    <p:embeddedFont>
      <p:font typeface="Calibri (MS) Italics" panose="020F05020202040A0204" pitchFamily="34" charset="0"/>
      <p:regular r:id="rId19"/>
    </p:embeddedFont>
    <p:embeddedFont>
      <p:font typeface="Georgia Bold" panose="02040802050405020203" pitchFamily="18" charset="0"/>
      <p:regular r:id="rId20"/>
      <p:bold r:id="rId21"/>
    </p:embeddedFont>
    <p:embeddedFont>
      <p:font typeface="Georgia Italics" panose="02040502050405090303" pitchFamily="18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42" autoAdjust="0"/>
    <p:restoredTop sz="94622" autoAdjust="0"/>
  </p:normalViewPr>
  <p:slideViewPr>
    <p:cSldViewPr>
      <p:cViewPr varScale="1">
        <p:scale>
          <a:sx n="46" d="100"/>
          <a:sy n="46" d="100"/>
        </p:scale>
        <p:origin x="29" y="7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9.fntdata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schemas.openxmlformats.org/officeDocument/2006/relationships/font" Target="fonts/font10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7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2.jpe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Relationship Id="rId9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3.png" /><Relationship Id="rId4" Type="http://schemas.openxmlformats.org/officeDocument/2006/relationships/image" Target="../media/image2.jpe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 /><Relationship Id="rId3" Type="http://schemas.openxmlformats.org/officeDocument/2006/relationships/image" Target="../media/image2.jpe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6.png" /><Relationship Id="rId4" Type="http://schemas.openxmlformats.org/officeDocument/2006/relationships/image" Target="../media/image1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3" Type="http://schemas.openxmlformats.org/officeDocument/2006/relationships/image" Target="../media/image2.jpeg" /><Relationship Id="rId7" Type="http://schemas.openxmlformats.org/officeDocument/2006/relationships/image" Target="../media/image1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11.png" /><Relationship Id="rId4" Type="http://schemas.openxmlformats.org/officeDocument/2006/relationships/image" Target="../media/image1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png" /><Relationship Id="rId5" Type="http://schemas.openxmlformats.org/officeDocument/2006/relationships/image" Target="../media/image6.png" /><Relationship Id="rId4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60103" y="-12697"/>
            <a:ext cx="7340603" cy="10312403"/>
            <a:chOff x="0" y="0"/>
            <a:chExt cx="9787471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9753600" cy="13715999"/>
            </a:xfrm>
            <a:custGeom>
              <a:avLst/>
              <a:gdLst/>
              <a:ahLst/>
              <a:cxnLst/>
              <a:rect l="l" t="t" r="r" b="b"/>
              <a:pathLst>
                <a:path w="9753600" h="13715999">
                  <a:moveTo>
                    <a:pt x="0" y="0"/>
                  </a:moveTo>
                  <a:lnTo>
                    <a:pt x="9753600" y="0"/>
                  </a:lnTo>
                  <a:lnTo>
                    <a:pt x="9753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9787382" cy="13749782"/>
            </a:xfrm>
            <a:custGeom>
              <a:avLst/>
              <a:gdLst/>
              <a:ahLst/>
              <a:cxnLst/>
              <a:rect l="l" t="t" r="r" b="b"/>
              <a:pathLst>
                <a:path w="9787382" h="137497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3732890"/>
                  </a:lnTo>
                  <a:cubicBezTo>
                    <a:pt x="9787382" y="13742290"/>
                    <a:pt x="9779762" y="13749782"/>
                    <a:pt x="9770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9770491" y="13716000"/>
                  </a:lnTo>
                  <a:lnTo>
                    <a:pt x="9770491" y="13732890"/>
                  </a:lnTo>
                  <a:lnTo>
                    <a:pt x="9753600" y="13732890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045703" y="-12697"/>
            <a:ext cx="1305563" cy="10312403"/>
            <a:chOff x="0" y="0"/>
            <a:chExt cx="1740751" cy="137498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706880" cy="13715999"/>
            </a:xfrm>
            <a:custGeom>
              <a:avLst/>
              <a:gdLst/>
              <a:ahLst/>
              <a:cxnLst/>
              <a:rect l="l" t="t" r="r" b="b"/>
              <a:pathLst>
                <a:path w="1706880" h="13715999">
                  <a:moveTo>
                    <a:pt x="0" y="0"/>
                  </a:moveTo>
                  <a:lnTo>
                    <a:pt x="1706880" y="0"/>
                  </a:lnTo>
                  <a:lnTo>
                    <a:pt x="17068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740662" cy="13749782"/>
            </a:xfrm>
            <a:custGeom>
              <a:avLst/>
              <a:gdLst/>
              <a:ahLst/>
              <a:cxnLst/>
              <a:rect l="l" t="t" r="r" b="b"/>
              <a:pathLst>
                <a:path w="1740662" h="1374978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13732890"/>
                  </a:lnTo>
                  <a:cubicBezTo>
                    <a:pt x="1740662" y="13742290"/>
                    <a:pt x="1733042" y="13749782"/>
                    <a:pt x="17237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723771" y="13716000"/>
                  </a:lnTo>
                  <a:lnTo>
                    <a:pt x="1723771" y="13732890"/>
                  </a:lnTo>
                  <a:lnTo>
                    <a:pt x="1706880" y="13732890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410437" y="1071877"/>
            <a:ext cx="5171437" cy="5171437"/>
            <a:chOff x="0" y="0"/>
            <a:chExt cx="6895249" cy="6895249"/>
          </a:xfrm>
        </p:grpSpPr>
        <p:sp>
          <p:nvSpPr>
            <p:cNvPr id="9" name="Freeform 9"/>
            <p:cNvSpPr/>
            <p:nvPr/>
          </p:nvSpPr>
          <p:spPr>
            <a:xfrm>
              <a:off x="33909" y="33909"/>
              <a:ext cx="6827519" cy="6827520"/>
            </a:xfrm>
            <a:custGeom>
              <a:avLst/>
              <a:gdLst/>
              <a:ahLst/>
              <a:cxnLst/>
              <a:rect l="l" t="t" r="r" b="b"/>
              <a:pathLst>
                <a:path w="6827519" h="6827520">
                  <a:moveTo>
                    <a:pt x="0" y="3413760"/>
                  </a:moveTo>
                  <a:cubicBezTo>
                    <a:pt x="0" y="1528445"/>
                    <a:pt x="1528445" y="0"/>
                    <a:pt x="3413760" y="0"/>
                  </a:cubicBezTo>
                  <a:cubicBezTo>
                    <a:pt x="5299075" y="0"/>
                    <a:pt x="6827519" y="1528445"/>
                    <a:pt x="6827519" y="3413760"/>
                  </a:cubicBezTo>
                  <a:cubicBezTo>
                    <a:pt x="6827519" y="5299075"/>
                    <a:pt x="5299075" y="6827520"/>
                    <a:pt x="3413760" y="6827520"/>
                  </a:cubicBezTo>
                  <a:cubicBezTo>
                    <a:pt x="1528445" y="6827520"/>
                    <a:pt x="0" y="5299075"/>
                    <a:pt x="0" y="3413760"/>
                  </a:cubicBez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895211" cy="6895338"/>
            </a:xfrm>
            <a:custGeom>
              <a:avLst/>
              <a:gdLst/>
              <a:ahLst/>
              <a:cxnLst/>
              <a:rect l="l" t="t" r="r" b="b"/>
              <a:pathLst>
                <a:path w="6895211" h="6895338">
                  <a:moveTo>
                    <a:pt x="0" y="3447669"/>
                  </a:moveTo>
                  <a:cubicBezTo>
                    <a:pt x="0" y="1543558"/>
                    <a:pt x="1543558" y="0"/>
                    <a:pt x="3447669" y="0"/>
                  </a:cubicBezTo>
                  <a:lnTo>
                    <a:pt x="3447669" y="33909"/>
                  </a:lnTo>
                  <a:lnTo>
                    <a:pt x="3447669" y="0"/>
                  </a:lnTo>
                  <a:cubicBezTo>
                    <a:pt x="5351653" y="0"/>
                    <a:pt x="6895211" y="1543558"/>
                    <a:pt x="6895211" y="3447669"/>
                  </a:cubicBezTo>
                  <a:lnTo>
                    <a:pt x="6861302" y="3447669"/>
                  </a:lnTo>
                  <a:lnTo>
                    <a:pt x="6895211" y="3447669"/>
                  </a:lnTo>
                  <a:cubicBezTo>
                    <a:pt x="6895211" y="5351780"/>
                    <a:pt x="5351653" y="6895338"/>
                    <a:pt x="3447542" y="6895338"/>
                  </a:cubicBezTo>
                  <a:lnTo>
                    <a:pt x="3447542" y="6861429"/>
                  </a:lnTo>
                  <a:lnTo>
                    <a:pt x="3447542" y="6895338"/>
                  </a:lnTo>
                  <a:cubicBezTo>
                    <a:pt x="1543558" y="6895211"/>
                    <a:pt x="0" y="5351653"/>
                    <a:pt x="0" y="3447669"/>
                  </a:cubicBezTo>
                  <a:lnTo>
                    <a:pt x="33909" y="3447669"/>
                  </a:lnTo>
                  <a:lnTo>
                    <a:pt x="62484" y="3465957"/>
                  </a:lnTo>
                  <a:cubicBezTo>
                    <a:pt x="54356" y="3478657"/>
                    <a:pt x="38862" y="3484372"/>
                    <a:pt x="24511" y="3480181"/>
                  </a:cubicBezTo>
                  <a:cubicBezTo>
                    <a:pt x="10160" y="3475990"/>
                    <a:pt x="0" y="3462655"/>
                    <a:pt x="0" y="3447669"/>
                  </a:cubicBezTo>
                  <a:moveTo>
                    <a:pt x="67691" y="3447669"/>
                  </a:moveTo>
                  <a:lnTo>
                    <a:pt x="33909" y="3447669"/>
                  </a:lnTo>
                  <a:lnTo>
                    <a:pt x="5334" y="3429381"/>
                  </a:lnTo>
                  <a:cubicBezTo>
                    <a:pt x="13462" y="3416681"/>
                    <a:pt x="28956" y="3410966"/>
                    <a:pt x="43307" y="3415157"/>
                  </a:cubicBezTo>
                  <a:cubicBezTo>
                    <a:pt x="57658" y="3419348"/>
                    <a:pt x="67691" y="3432683"/>
                    <a:pt x="67691" y="3447669"/>
                  </a:cubicBezTo>
                  <a:cubicBezTo>
                    <a:pt x="67691" y="5314315"/>
                    <a:pt x="1580896" y="6827520"/>
                    <a:pt x="3447542" y="6827520"/>
                  </a:cubicBezTo>
                  <a:cubicBezTo>
                    <a:pt x="5314188" y="6827520"/>
                    <a:pt x="6827393" y="5314315"/>
                    <a:pt x="6827393" y="3447669"/>
                  </a:cubicBezTo>
                  <a:cubicBezTo>
                    <a:pt x="6827520" y="1581023"/>
                    <a:pt x="5314315" y="67691"/>
                    <a:pt x="3447669" y="67691"/>
                  </a:cubicBezTo>
                  <a:lnTo>
                    <a:pt x="3447669" y="33909"/>
                  </a:lnTo>
                  <a:lnTo>
                    <a:pt x="3447669" y="67691"/>
                  </a:lnTo>
                  <a:cubicBezTo>
                    <a:pt x="1581023" y="67691"/>
                    <a:pt x="67691" y="1581023"/>
                    <a:pt x="67691" y="3447669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788903" y="1450343"/>
            <a:ext cx="4414523" cy="4414523"/>
            <a:chOff x="0" y="0"/>
            <a:chExt cx="5886031" cy="58860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852160" cy="5852160"/>
            </a:xfrm>
            <a:custGeom>
              <a:avLst/>
              <a:gdLst/>
              <a:ahLst/>
              <a:cxnLst/>
              <a:rect l="l" t="t" r="r" b="b"/>
              <a:pathLst>
                <a:path w="5852160" h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3D128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3D128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3167360" y="1737360"/>
            <a:ext cx="3657600" cy="3657600"/>
            <a:chOff x="0" y="0"/>
            <a:chExt cx="4876800" cy="48768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508743" y="7302503"/>
            <a:ext cx="208283" cy="208283"/>
            <a:chOff x="0" y="0"/>
            <a:chExt cx="277711" cy="27771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2971783" y="7851143"/>
            <a:ext cx="208283" cy="208283"/>
            <a:chOff x="0" y="0"/>
            <a:chExt cx="277711" cy="27771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4434823" y="7485383"/>
            <a:ext cx="208283" cy="208283"/>
            <a:chOff x="0" y="0"/>
            <a:chExt cx="277711" cy="277711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897863" y="8034023"/>
            <a:ext cx="208283" cy="208283"/>
            <a:chOff x="0" y="0"/>
            <a:chExt cx="277711" cy="27771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95143" y="7302503"/>
            <a:ext cx="208283" cy="208283"/>
            <a:chOff x="0" y="0"/>
            <a:chExt cx="277711" cy="2777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502999" y="5394960"/>
            <a:ext cx="7132320" cy="2651717"/>
            <a:chOff x="-487680" y="-609543"/>
            <a:chExt cx="9509760" cy="353562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022080" cy="2926080"/>
            </a:xfrm>
            <a:custGeom>
              <a:avLst/>
              <a:gdLst/>
              <a:ahLst/>
              <a:cxnLst/>
              <a:rect l="l" t="t" r="r" b="b"/>
              <a:pathLst>
                <a:path w="9022080" h="2926080">
                  <a:moveTo>
                    <a:pt x="0" y="0"/>
                  </a:moveTo>
                  <a:lnTo>
                    <a:pt x="9022080" y="0"/>
                  </a:lnTo>
                  <a:lnTo>
                    <a:pt x="90220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78" b="-1007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-487680" y="-609543"/>
              <a:ext cx="9509760" cy="3535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03"/>
                </a:lnSpc>
              </a:pPr>
              <a:r>
                <a:rPr lang="en-US" sz="2799" i="1" dirty="0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Prevent Breakups.</a:t>
              </a:r>
            </a:p>
            <a:p>
              <a:pPr algn="ctr">
                <a:lnSpc>
                  <a:spcPts val="4703"/>
                </a:lnSpc>
              </a:pPr>
              <a:r>
                <a:rPr lang="en-US" sz="2799" i="1" dirty="0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Build Stronger Love ❤️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435283" y="6749858"/>
            <a:ext cx="2768603" cy="135131"/>
            <a:chOff x="0" y="0"/>
            <a:chExt cx="3691471" cy="180175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3657600" cy="146304"/>
            </a:xfrm>
            <a:custGeom>
              <a:avLst/>
              <a:gdLst/>
              <a:ahLst/>
              <a:cxnLst/>
              <a:rect l="l" t="t" r="r" b="b"/>
              <a:pathLst>
                <a:path w="3657600" h="146304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3691382" cy="180088"/>
            </a:xfrm>
            <a:custGeom>
              <a:avLst/>
              <a:gdLst/>
              <a:ahLst/>
              <a:cxnLst/>
              <a:rect l="l" t="t" r="r" b="b"/>
              <a:pathLst>
                <a:path w="3691382" h="180088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63195"/>
                  </a:lnTo>
                  <a:cubicBezTo>
                    <a:pt x="3691382" y="172593"/>
                    <a:pt x="3683762" y="180086"/>
                    <a:pt x="36744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3674491" y="146304"/>
                  </a:lnTo>
                  <a:lnTo>
                    <a:pt x="3674491" y="163195"/>
                  </a:lnTo>
                  <a:lnTo>
                    <a:pt x="3657600" y="163195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338560" y="8631936"/>
            <a:ext cx="6583680" cy="548640"/>
            <a:chOff x="0" y="0"/>
            <a:chExt cx="877824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endParaRPr lang="en-US" sz="1800" spc="800" dirty="0">
                <a:solidFill>
                  <a:srgbClr val="C4B0E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0263" y="1907543"/>
            <a:ext cx="3317243" cy="610619"/>
            <a:chOff x="0" y="0"/>
            <a:chExt cx="4422991" cy="814159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4422902" cy="814072"/>
            </a:xfrm>
            <a:custGeom>
              <a:avLst/>
              <a:gdLst/>
              <a:ahLst/>
              <a:cxnLst/>
              <a:rect l="l" t="t" r="r" b="b"/>
              <a:pathLst>
                <a:path w="4422902" h="81407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97179"/>
                  </a:lnTo>
                  <a:cubicBezTo>
                    <a:pt x="4422902" y="806577"/>
                    <a:pt x="4415282" y="814070"/>
                    <a:pt x="44060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4406011" y="780288"/>
                  </a:lnTo>
                  <a:lnTo>
                    <a:pt x="4406011" y="797179"/>
                  </a:lnTo>
                  <a:lnTo>
                    <a:pt x="4389120" y="797179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822960" y="1920240"/>
            <a:ext cx="3291840" cy="585216"/>
            <a:chOff x="0" y="0"/>
            <a:chExt cx="4389120" cy="78028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89120" cy="780288"/>
            </a:xfrm>
            <a:custGeom>
              <a:avLst/>
              <a:gdLst/>
              <a:ahLst/>
              <a:cxnLst/>
              <a:rect l="l" t="t" r="r" b="b"/>
              <a:pathLst>
                <a:path w="4389120" h="780288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599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STARTUP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31519" y="2736056"/>
            <a:ext cx="10266711" cy="1701532"/>
            <a:chOff x="-1" y="-9525"/>
            <a:chExt cx="13688948" cy="226870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655039" cy="2194560"/>
            </a:xfrm>
            <a:custGeom>
              <a:avLst/>
              <a:gdLst/>
              <a:ahLst/>
              <a:cxnLst/>
              <a:rect l="l" t="t" r="r" b="b"/>
              <a:pathLst>
                <a:path w="13655039" h="2194560">
                  <a:moveTo>
                    <a:pt x="0" y="0"/>
                  </a:moveTo>
                  <a:lnTo>
                    <a:pt x="13655039" y="0"/>
                  </a:lnTo>
                  <a:lnTo>
                    <a:pt x="136550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-1" y="-9525"/>
              <a:ext cx="13688948" cy="226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8800" b="1" dirty="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PREMO AI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8250" y="5404506"/>
            <a:ext cx="9144000" cy="1306416"/>
            <a:chOff x="0" y="-644605"/>
            <a:chExt cx="12192000" cy="174188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644605"/>
              <a:ext cx="12192000" cy="1741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dirty="0">
                  <a:solidFill>
                    <a:srgbClr val="C89E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Relationship Strength Platform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75960" y="6449156"/>
            <a:ext cx="4597403" cy="98555"/>
            <a:chOff x="0" y="0"/>
            <a:chExt cx="6129871" cy="131407"/>
          </a:xfrm>
        </p:grpSpPr>
        <p:sp>
          <p:nvSpPr>
            <p:cNvPr id="53" name="Freeform 53"/>
            <p:cNvSpPr/>
            <p:nvPr/>
          </p:nvSpPr>
          <p:spPr>
            <a:xfrm>
              <a:off x="16891" y="16891"/>
              <a:ext cx="6096000" cy="97536"/>
            </a:xfrm>
            <a:custGeom>
              <a:avLst/>
              <a:gdLst/>
              <a:ahLst/>
              <a:cxnLst/>
              <a:rect l="l" t="t" r="r" b="b"/>
              <a:pathLst>
                <a:path w="6096000" h="97536">
                  <a:moveTo>
                    <a:pt x="0" y="0"/>
                  </a:moveTo>
                  <a:lnTo>
                    <a:pt x="6096000" y="0"/>
                  </a:lnTo>
                  <a:lnTo>
                    <a:pt x="6096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6129782" cy="131320"/>
            </a:xfrm>
            <a:custGeom>
              <a:avLst/>
              <a:gdLst/>
              <a:ahLst/>
              <a:cxnLst/>
              <a:rect l="l" t="t" r="r" b="b"/>
              <a:pathLst>
                <a:path w="6129782" h="131320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14427"/>
                  </a:lnTo>
                  <a:cubicBezTo>
                    <a:pt x="6129782" y="123825"/>
                    <a:pt x="6122162" y="131318"/>
                    <a:pt x="61128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6112891" y="97536"/>
                  </a:lnTo>
                  <a:lnTo>
                    <a:pt x="6112891" y="114427"/>
                  </a:lnTo>
                  <a:lnTo>
                    <a:pt x="6096000" y="114427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384143" y="6748563"/>
            <a:ext cx="9144000" cy="1481008"/>
            <a:chOff x="-509753" y="-1015808"/>
            <a:chExt cx="12192000" cy="1974677"/>
          </a:xfrm>
        </p:grpSpPr>
        <p:sp>
          <p:nvSpPr>
            <p:cNvPr id="56" name="Freeform 56"/>
            <p:cNvSpPr/>
            <p:nvPr/>
          </p:nvSpPr>
          <p:spPr>
            <a:xfrm>
              <a:off x="-509753" y="32278"/>
              <a:ext cx="12192000" cy="926591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382" b="-20638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015808"/>
              <a:ext cx="11682247" cy="1942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Amritansh Kumar Pandey</a:t>
              </a:r>
            </a:p>
            <a:p>
              <a:pPr algn="l">
                <a:lnSpc>
                  <a:spcPts val="3359"/>
                </a:lnSpc>
              </a:pPr>
              <a:endParaRPr lang="en-US" sz="279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3560" y="7468848"/>
            <a:ext cx="9144000" cy="548640"/>
            <a:chOff x="0" y="0"/>
            <a:chExt cx="1219200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dirty="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Raj Kumar Goel Institute of Technology, Ghaziabad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-12697" y="9679943"/>
            <a:ext cx="18313403" cy="619763"/>
            <a:chOff x="0" y="0"/>
            <a:chExt cx="24417871" cy="82635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24383999" cy="792480"/>
            </a:xfrm>
            <a:custGeom>
              <a:avLst/>
              <a:gdLst/>
              <a:ahLst/>
              <a:cxnLst/>
              <a:rect l="l" t="t" r="r" b="b"/>
              <a:pathLst>
                <a:path w="24383999" h="792480">
                  <a:moveTo>
                    <a:pt x="0" y="0"/>
                  </a:moveTo>
                  <a:lnTo>
                    <a:pt x="24383999" y="0"/>
                  </a:lnTo>
                  <a:lnTo>
                    <a:pt x="24383999" y="79248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rgbClr val="1A0545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24417782" cy="826264"/>
            </a:xfrm>
            <a:custGeom>
              <a:avLst/>
              <a:gdLst/>
              <a:ahLst/>
              <a:cxnLst/>
              <a:rect l="l" t="t" r="r" b="b"/>
              <a:pathLst>
                <a:path w="24417782" h="826264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09371"/>
                  </a:lnTo>
                  <a:cubicBezTo>
                    <a:pt x="24417782" y="818769"/>
                    <a:pt x="24410163" y="826262"/>
                    <a:pt x="24400890" y="826262"/>
                  </a:cubicBezTo>
                  <a:lnTo>
                    <a:pt x="16891" y="826262"/>
                  </a:lnTo>
                  <a:cubicBezTo>
                    <a:pt x="7620" y="826389"/>
                    <a:pt x="0" y="818769"/>
                    <a:pt x="0" y="809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9371"/>
                  </a:lnTo>
                  <a:lnTo>
                    <a:pt x="16891" y="809371"/>
                  </a:lnTo>
                  <a:lnTo>
                    <a:pt x="16891" y="792480"/>
                  </a:lnTo>
                  <a:lnTo>
                    <a:pt x="24400890" y="792480"/>
                  </a:lnTo>
                  <a:lnTo>
                    <a:pt x="24400890" y="809371"/>
                  </a:lnTo>
                  <a:lnTo>
                    <a:pt x="24384000" y="8093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0545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731520" y="9692640"/>
            <a:ext cx="16824960" cy="594360"/>
            <a:chOff x="0" y="0"/>
            <a:chExt cx="22433280" cy="7924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2433280" cy="792480"/>
            </a:xfrm>
            <a:custGeom>
              <a:avLst/>
              <a:gdLst/>
              <a:ahLst/>
              <a:cxnLst/>
              <a:rect l="l" t="t" r="r" b="b"/>
              <a:pathLst>
                <a:path w="22433280" h="792480">
                  <a:moveTo>
                    <a:pt x="0" y="0"/>
                  </a:moveTo>
                  <a:lnTo>
                    <a:pt x="22433280" y="0"/>
                  </a:lnTo>
                  <a:lnTo>
                    <a:pt x="224332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1576" b="-501576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22433280" cy="830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Confidential ·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1707"/>
            <a:chOff x="0" y="0"/>
            <a:chExt cx="24417871" cy="228943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95072"/>
            </a:xfrm>
            <a:custGeom>
              <a:avLst/>
              <a:gdLst/>
              <a:ahLst/>
              <a:cxnLst/>
              <a:rect l="l" t="t" r="r" b="b"/>
              <a:pathLst>
                <a:path w="24383999" h="195072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28856"/>
            </a:xfrm>
            <a:custGeom>
              <a:avLst/>
              <a:gdLst/>
              <a:ahLst/>
              <a:cxnLst/>
              <a:rect l="l" t="t" r="r" b="b"/>
              <a:pathLst>
                <a:path w="24417782" h="22885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133607"/>
            <a:ext cx="7706363" cy="10166099"/>
            <a:chOff x="0" y="0"/>
            <a:chExt cx="10275151" cy="13554799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0241281" cy="13520928"/>
            </a:xfrm>
            <a:custGeom>
              <a:avLst/>
              <a:gdLst/>
              <a:ahLst/>
              <a:cxnLst/>
              <a:rect l="l" t="t" r="r" b="b"/>
              <a:pathLst>
                <a:path w="10241281" h="13520928">
                  <a:moveTo>
                    <a:pt x="0" y="0"/>
                  </a:moveTo>
                  <a:lnTo>
                    <a:pt x="10241281" y="0"/>
                  </a:lnTo>
                  <a:lnTo>
                    <a:pt x="10241281" y="13520928"/>
                  </a:lnTo>
                  <a:lnTo>
                    <a:pt x="0" y="13520928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275062" cy="13554709"/>
            </a:xfrm>
            <a:custGeom>
              <a:avLst/>
              <a:gdLst/>
              <a:ahLst/>
              <a:cxnLst/>
              <a:rect l="l" t="t" r="r" b="b"/>
              <a:pathLst>
                <a:path w="10275062" h="13554709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3537819"/>
                  </a:lnTo>
                  <a:cubicBezTo>
                    <a:pt x="10275062" y="13547217"/>
                    <a:pt x="10267442" y="13554709"/>
                    <a:pt x="10258172" y="13554709"/>
                  </a:cubicBezTo>
                  <a:lnTo>
                    <a:pt x="16891" y="13554709"/>
                  </a:lnTo>
                  <a:cubicBezTo>
                    <a:pt x="7493" y="13554709"/>
                    <a:pt x="0" y="13547089"/>
                    <a:pt x="0" y="1353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37819"/>
                  </a:lnTo>
                  <a:lnTo>
                    <a:pt x="16891" y="13537819"/>
                  </a:lnTo>
                  <a:lnTo>
                    <a:pt x="16891" y="13520928"/>
                  </a:lnTo>
                  <a:lnTo>
                    <a:pt x="10258172" y="13520928"/>
                  </a:lnTo>
                  <a:lnTo>
                    <a:pt x="10258172" y="13537819"/>
                  </a:lnTo>
                  <a:lnTo>
                    <a:pt x="10241280" y="1353781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0A6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1005840"/>
            <a:ext cx="6583680" cy="2926080"/>
            <a:chOff x="0" y="0"/>
            <a:chExt cx="8778240" cy="390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78240" cy="3901440"/>
            </a:xfrm>
            <a:custGeom>
              <a:avLst/>
              <a:gdLst/>
              <a:ahLst/>
              <a:cxnLst/>
              <a:rect l="l" t="t" r="r" b="b"/>
              <a:pathLst>
                <a:path w="8778240" h="3901440">
                  <a:moveTo>
                    <a:pt x="0" y="0"/>
                  </a:moveTo>
                  <a:lnTo>
                    <a:pt x="8778240" y="0"/>
                  </a:lnTo>
                  <a:lnTo>
                    <a:pt x="87782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0"/>
              <a:ext cx="8778240" cy="4091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944"/>
                </a:lnSpc>
              </a:pPr>
              <a:r>
                <a:rPr lang="en-US" sz="7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Real</a:t>
              </a:r>
            </a:p>
            <a:p>
              <a:pPr algn="l">
                <a:lnSpc>
                  <a:spcPts val="10944"/>
                </a:lnSpc>
              </a:pPr>
              <a:r>
                <a:rPr lang="en-US" sz="7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5943" y="4102103"/>
            <a:ext cx="2768603" cy="98555"/>
            <a:chOff x="0" y="0"/>
            <a:chExt cx="3691471" cy="13140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3657600" cy="97536"/>
            </a:xfrm>
            <a:custGeom>
              <a:avLst/>
              <a:gdLst/>
              <a:ahLst/>
              <a:cxnLst/>
              <a:rect l="l" t="t" r="r" b="b"/>
              <a:pathLst>
                <a:path w="3657600" h="97536">
                  <a:moveTo>
                    <a:pt x="0" y="0"/>
                  </a:moveTo>
                  <a:lnTo>
                    <a:pt x="3657600" y="0"/>
                  </a:lnTo>
                  <a:lnTo>
                    <a:pt x="3657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691382" cy="131320"/>
            </a:xfrm>
            <a:custGeom>
              <a:avLst/>
              <a:gdLst/>
              <a:ahLst/>
              <a:cxnLst/>
              <a:rect l="l" t="t" r="r" b="b"/>
              <a:pathLst>
                <a:path w="3691382" h="131320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4427"/>
                  </a:lnTo>
                  <a:cubicBezTo>
                    <a:pt x="3691382" y="123825"/>
                    <a:pt x="3683762" y="131318"/>
                    <a:pt x="36744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674491" y="97536"/>
                  </a:lnTo>
                  <a:lnTo>
                    <a:pt x="3674491" y="114427"/>
                  </a:lnTo>
                  <a:lnTo>
                    <a:pt x="3657600" y="114427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8640" y="4480560"/>
            <a:ext cx="6400800" cy="3291840"/>
            <a:chOff x="0" y="0"/>
            <a:chExt cx="8534400" cy="4389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34400" cy="4389120"/>
            </a:xfrm>
            <a:custGeom>
              <a:avLst/>
              <a:gdLst/>
              <a:ahLst/>
              <a:cxnLst/>
              <a:rect l="l" t="t" r="r" b="b"/>
              <a:pathLst>
                <a:path w="8534400" h="4389120">
                  <a:moveTo>
                    <a:pt x="0" y="0"/>
                  </a:moveTo>
                  <a:lnTo>
                    <a:pt x="8534400" y="0"/>
                  </a:lnTo>
                  <a:lnTo>
                    <a:pt x="85344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09550"/>
              <a:ext cx="8534400" cy="459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2799" i="1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"Love fails not due to</a:t>
              </a:r>
            </a:p>
            <a:p>
              <a:pPr algn="l">
                <a:lnSpc>
                  <a:spcPts val="5039"/>
                </a:lnSpc>
              </a:pPr>
              <a:r>
                <a:rPr lang="en-US" sz="2799" i="1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lack of feelings,</a:t>
              </a:r>
            </a:p>
            <a:p>
              <a:pPr algn="l">
                <a:lnSpc>
                  <a:spcPts val="5039"/>
                </a:lnSpc>
              </a:pPr>
              <a:r>
                <a:rPr lang="en-US" sz="2799" i="1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but lack of</a:t>
              </a:r>
            </a:p>
            <a:p>
              <a:pPr algn="l">
                <a:lnSpc>
                  <a:spcPts val="5039"/>
                </a:lnSpc>
              </a:pPr>
              <a:r>
                <a:rPr lang="en-US" sz="2799" i="1">
                  <a:solidFill>
                    <a:srgbClr val="C89E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understanding."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5943" y="8216903"/>
            <a:ext cx="665483" cy="665483"/>
            <a:chOff x="0" y="0"/>
            <a:chExt cx="887311" cy="88731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887349" cy="887222"/>
            </a:xfrm>
            <a:custGeom>
              <a:avLst/>
              <a:gdLst/>
              <a:ahLst/>
              <a:cxnLst/>
              <a:rect l="l" t="t" r="r" b="b"/>
              <a:pathLst>
                <a:path w="887349" h="887222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lnTo>
                    <a:pt x="443611" y="16891"/>
                  </a:lnTo>
                  <a:lnTo>
                    <a:pt x="443611" y="0"/>
                  </a:lnTo>
                  <a:cubicBezTo>
                    <a:pt x="688721" y="0"/>
                    <a:pt x="887349" y="198628"/>
                    <a:pt x="887349" y="443611"/>
                  </a:cubicBezTo>
                  <a:lnTo>
                    <a:pt x="870331" y="443611"/>
                  </a:lnTo>
                  <a:lnTo>
                    <a:pt x="887222" y="443611"/>
                  </a:lnTo>
                  <a:cubicBezTo>
                    <a:pt x="887222" y="688594"/>
                    <a:pt x="688594" y="887222"/>
                    <a:pt x="443611" y="887222"/>
                  </a:cubicBezTo>
                  <a:lnTo>
                    <a:pt x="443611" y="870331"/>
                  </a:lnTo>
                  <a:lnTo>
                    <a:pt x="443611" y="887222"/>
                  </a:lnTo>
                  <a:cubicBezTo>
                    <a:pt x="198628" y="887349"/>
                    <a:pt x="0" y="688721"/>
                    <a:pt x="0" y="443611"/>
                  </a:cubicBezTo>
                  <a:lnTo>
                    <a:pt x="16891" y="443611"/>
                  </a:lnTo>
                  <a:lnTo>
                    <a:pt x="31242" y="452628"/>
                  </a:lnTo>
                  <a:cubicBezTo>
                    <a:pt x="27178" y="458978"/>
                    <a:pt x="19431" y="462026"/>
                    <a:pt x="12192" y="459867"/>
                  </a:cubicBezTo>
                  <a:cubicBezTo>
                    <a:pt x="4953" y="457708"/>
                    <a:pt x="0" y="451231"/>
                    <a:pt x="0" y="443611"/>
                  </a:cubicBezTo>
                  <a:moveTo>
                    <a:pt x="33909" y="443611"/>
                  </a:moveTo>
                  <a:lnTo>
                    <a:pt x="16891" y="443611"/>
                  </a:lnTo>
                  <a:lnTo>
                    <a:pt x="2540" y="434721"/>
                  </a:lnTo>
                  <a:cubicBezTo>
                    <a:pt x="6604" y="428371"/>
                    <a:pt x="14351" y="425323"/>
                    <a:pt x="21590" y="427482"/>
                  </a:cubicBezTo>
                  <a:cubicBezTo>
                    <a:pt x="28829" y="429641"/>
                    <a:pt x="33909" y="436245"/>
                    <a:pt x="33909" y="443738"/>
                  </a:cubicBezTo>
                  <a:cubicBezTo>
                    <a:pt x="33909" y="670052"/>
                    <a:pt x="217424" y="853567"/>
                    <a:pt x="443738" y="853567"/>
                  </a:cubicBezTo>
                  <a:cubicBezTo>
                    <a:pt x="670052" y="853567"/>
                    <a:pt x="853567" y="670052"/>
                    <a:pt x="853567" y="443738"/>
                  </a:cubicBezTo>
                  <a:cubicBezTo>
                    <a:pt x="853567" y="217424"/>
                    <a:pt x="670052" y="33909"/>
                    <a:pt x="443738" y="33909"/>
                  </a:cubicBezTo>
                  <a:lnTo>
                    <a:pt x="443738" y="16891"/>
                  </a:lnTo>
                  <a:lnTo>
                    <a:pt x="443738" y="33909"/>
                  </a:lnTo>
                  <a:cubicBezTo>
                    <a:pt x="217297" y="33909"/>
                    <a:pt x="33909" y="217297"/>
                    <a:pt x="33909" y="443611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48640" y="8229600"/>
            <a:ext cx="640080" cy="640080"/>
            <a:chOff x="0" y="0"/>
            <a:chExt cx="85344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1600" y="8284464"/>
            <a:ext cx="3657600" cy="548640"/>
            <a:chOff x="0" y="0"/>
            <a:chExt cx="487680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spc="599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31807" y="505711"/>
            <a:ext cx="9705337" cy="2115817"/>
            <a:chOff x="0" y="0"/>
            <a:chExt cx="12940449" cy="2821089"/>
          </a:xfrm>
        </p:grpSpPr>
        <p:sp>
          <p:nvSpPr>
            <p:cNvPr id="27" name="Freeform 27"/>
            <p:cNvSpPr/>
            <p:nvPr/>
          </p:nvSpPr>
          <p:spPr>
            <a:xfrm>
              <a:off x="8509" y="8509"/>
              <a:ext cx="12923519" cy="2804160"/>
            </a:xfrm>
            <a:custGeom>
              <a:avLst/>
              <a:gdLst/>
              <a:ahLst/>
              <a:cxnLst/>
              <a:rect l="l" t="t" r="r" b="b"/>
              <a:pathLst>
                <a:path w="12923519" h="2804160">
                  <a:moveTo>
                    <a:pt x="0" y="0"/>
                  </a:moveTo>
                  <a:lnTo>
                    <a:pt x="12923519" y="0"/>
                  </a:lnTo>
                  <a:lnTo>
                    <a:pt x="129235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2940538" cy="2821178"/>
            </a:xfrm>
            <a:custGeom>
              <a:avLst/>
              <a:gdLst/>
              <a:ahLst/>
              <a:cxnLst/>
              <a:rect l="l" t="t" r="r" b="b"/>
              <a:pathLst>
                <a:path w="12940538" h="282117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2812669"/>
                  </a:lnTo>
                  <a:cubicBezTo>
                    <a:pt x="12940538" y="2817368"/>
                    <a:pt x="12936727" y="2821178"/>
                    <a:pt x="129320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2932028" y="2804160"/>
                  </a:lnTo>
                  <a:lnTo>
                    <a:pt x="12932028" y="2812669"/>
                  </a:lnTo>
                  <a:lnTo>
                    <a:pt x="12923520" y="281266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125463" y="499367"/>
            <a:ext cx="153419" cy="2128523"/>
            <a:chOff x="0" y="0"/>
            <a:chExt cx="204559" cy="283803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399783" y="1084583"/>
            <a:ext cx="830075" cy="830075"/>
            <a:chOff x="0" y="0"/>
            <a:chExt cx="1106767" cy="1106767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106805" cy="1106678"/>
            </a:xfrm>
            <a:custGeom>
              <a:avLst/>
              <a:gdLst/>
              <a:ahLst/>
              <a:cxnLst/>
              <a:rect l="l" t="t" r="r" b="b"/>
              <a:pathLst>
                <a:path w="1106805" h="1106678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412480" y="1097280"/>
            <a:ext cx="804672" cy="804672"/>
            <a:chOff x="0" y="0"/>
            <a:chExt cx="1072896" cy="1072896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418320" y="694944"/>
            <a:ext cx="8229600" cy="694944"/>
            <a:chOff x="0" y="0"/>
            <a:chExt cx="10972800" cy="926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743" b="-18074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Poor Communication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18320" y="1463040"/>
            <a:ext cx="8229600" cy="1005840"/>
            <a:chOff x="0" y="0"/>
            <a:chExt cx="10972800" cy="13411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0"/>
              <a:ext cx="1097280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0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Couples fight over small misunderstandings that could be resolved with the right guidance.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31807" y="2846575"/>
            <a:ext cx="9705337" cy="2115817"/>
            <a:chOff x="0" y="0"/>
            <a:chExt cx="12940449" cy="2821089"/>
          </a:xfrm>
        </p:grpSpPr>
        <p:sp>
          <p:nvSpPr>
            <p:cNvPr id="44" name="Freeform 44"/>
            <p:cNvSpPr/>
            <p:nvPr/>
          </p:nvSpPr>
          <p:spPr>
            <a:xfrm>
              <a:off x="8509" y="8509"/>
              <a:ext cx="12923519" cy="2804160"/>
            </a:xfrm>
            <a:custGeom>
              <a:avLst/>
              <a:gdLst/>
              <a:ahLst/>
              <a:cxnLst/>
              <a:rect l="l" t="t" r="r" b="b"/>
              <a:pathLst>
                <a:path w="12923519" h="2804160">
                  <a:moveTo>
                    <a:pt x="0" y="0"/>
                  </a:moveTo>
                  <a:lnTo>
                    <a:pt x="12923519" y="0"/>
                  </a:lnTo>
                  <a:lnTo>
                    <a:pt x="129235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12940538" cy="2821178"/>
            </a:xfrm>
            <a:custGeom>
              <a:avLst/>
              <a:gdLst/>
              <a:ahLst/>
              <a:cxnLst/>
              <a:rect l="l" t="t" r="r" b="b"/>
              <a:pathLst>
                <a:path w="12940538" h="282117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2812669"/>
                  </a:lnTo>
                  <a:cubicBezTo>
                    <a:pt x="12940538" y="2817368"/>
                    <a:pt x="12936727" y="2821178"/>
                    <a:pt x="129320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2932028" y="2804160"/>
                  </a:lnTo>
                  <a:lnTo>
                    <a:pt x="12932028" y="2812669"/>
                  </a:lnTo>
                  <a:lnTo>
                    <a:pt x="12923520" y="281266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8125463" y="2840231"/>
            <a:ext cx="153419" cy="2128523"/>
            <a:chOff x="0" y="0"/>
            <a:chExt cx="204559" cy="283803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8399783" y="3425447"/>
            <a:ext cx="830075" cy="830075"/>
            <a:chOff x="0" y="0"/>
            <a:chExt cx="1106767" cy="1106767"/>
          </a:xfrm>
        </p:grpSpPr>
        <p:sp>
          <p:nvSpPr>
            <p:cNvPr id="50" name="Freeform 50"/>
            <p:cNvSpPr/>
            <p:nvPr/>
          </p:nvSpPr>
          <p:spPr>
            <a:xfrm>
              <a:off x="16891" y="16891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1106805" cy="1106678"/>
            </a:xfrm>
            <a:custGeom>
              <a:avLst/>
              <a:gdLst/>
              <a:ahLst/>
              <a:cxnLst/>
              <a:rect l="l" t="t" r="r" b="b"/>
              <a:pathLst>
                <a:path w="1106805" h="1106678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8412480" y="3438144"/>
            <a:ext cx="804672" cy="804672"/>
            <a:chOff x="0" y="0"/>
            <a:chExt cx="1072896" cy="1072896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9418320" y="3035808"/>
            <a:ext cx="8229600" cy="694944"/>
            <a:chOff x="0" y="0"/>
            <a:chExt cx="10972800" cy="9265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743" b="-18074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Early Warning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418320" y="3803904"/>
            <a:ext cx="8229600" cy="1005840"/>
            <a:chOff x="0" y="0"/>
            <a:chExt cx="10972800" cy="13411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0"/>
              <a:ext cx="1097280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0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the time couples seek help, the damage is already done. There's zero early detection.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131807" y="5187439"/>
            <a:ext cx="9705337" cy="2115817"/>
            <a:chOff x="0" y="0"/>
            <a:chExt cx="12940449" cy="2821089"/>
          </a:xfrm>
        </p:grpSpPr>
        <p:sp>
          <p:nvSpPr>
            <p:cNvPr id="61" name="Freeform 61"/>
            <p:cNvSpPr/>
            <p:nvPr/>
          </p:nvSpPr>
          <p:spPr>
            <a:xfrm>
              <a:off x="8509" y="8509"/>
              <a:ext cx="12923519" cy="2804160"/>
            </a:xfrm>
            <a:custGeom>
              <a:avLst/>
              <a:gdLst/>
              <a:ahLst/>
              <a:cxnLst/>
              <a:rect l="l" t="t" r="r" b="b"/>
              <a:pathLst>
                <a:path w="12923519" h="2804160">
                  <a:moveTo>
                    <a:pt x="0" y="0"/>
                  </a:moveTo>
                  <a:lnTo>
                    <a:pt x="12923519" y="0"/>
                  </a:lnTo>
                  <a:lnTo>
                    <a:pt x="129235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12940538" cy="2821178"/>
            </a:xfrm>
            <a:custGeom>
              <a:avLst/>
              <a:gdLst/>
              <a:ahLst/>
              <a:cxnLst/>
              <a:rect l="l" t="t" r="r" b="b"/>
              <a:pathLst>
                <a:path w="12940538" h="282117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2812669"/>
                  </a:lnTo>
                  <a:cubicBezTo>
                    <a:pt x="12940538" y="2817368"/>
                    <a:pt x="12936727" y="2821178"/>
                    <a:pt x="129320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2932028" y="2804160"/>
                  </a:lnTo>
                  <a:lnTo>
                    <a:pt x="12932028" y="2812669"/>
                  </a:lnTo>
                  <a:lnTo>
                    <a:pt x="12923520" y="281266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125463" y="5181095"/>
            <a:ext cx="153419" cy="2128523"/>
            <a:chOff x="0" y="0"/>
            <a:chExt cx="204559" cy="2838031"/>
          </a:xfrm>
        </p:grpSpPr>
        <p:sp>
          <p:nvSpPr>
            <p:cNvPr id="64" name="Freeform 64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C89EF5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8399783" y="5766311"/>
            <a:ext cx="830075" cy="830075"/>
            <a:chOff x="0" y="0"/>
            <a:chExt cx="1106767" cy="1106767"/>
          </a:xfrm>
        </p:grpSpPr>
        <p:sp>
          <p:nvSpPr>
            <p:cNvPr id="67" name="Freeform 67"/>
            <p:cNvSpPr/>
            <p:nvPr/>
          </p:nvSpPr>
          <p:spPr>
            <a:xfrm>
              <a:off x="16891" y="16891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C89EF5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0" y="0"/>
              <a:ext cx="1106805" cy="1106678"/>
            </a:xfrm>
            <a:custGeom>
              <a:avLst/>
              <a:gdLst/>
              <a:ahLst/>
              <a:cxnLst/>
              <a:rect l="l" t="t" r="r" b="b"/>
              <a:pathLst>
                <a:path w="1106805" h="1106678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8412480" y="5779008"/>
            <a:ext cx="804672" cy="804672"/>
            <a:chOff x="0" y="0"/>
            <a:chExt cx="1072896" cy="1072896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9418320" y="5376672"/>
            <a:ext cx="8229600" cy="694944"/>
            <a:chOff x="0" y="0"/>
            <a:chExt cx="10972800" cy="9265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743" b="-18074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Therapy is Too Late &amp; Costly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418320" y="6144768"/>
            <a:ext cx="8229600" cy="1005840"/>
            <a:chOff x="0" y="0"/>
            <a:chExt cx="10972800" cy="13411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0"/>
              <a:ext cx="1097280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0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therapy costs ₹2,000–₹5,000/session. It's reactive, not preventive.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131807" y="7528303"/>
            <a:ext cx="9705337" cy="2115817"/>
            <a:chOff x="0" y="0"/>
            <a:chExt cx="12940449" cy="2821089"/>
          </a:xfrm>
        </p:grpSpPr>
        <p:sp>
          <p:nvSpPr>
            <p:cNvPr id="78" name="Freeform 78"/>
            <p:cNvSpPr/>
            <p:nvPr/>
          </p:nvSpPr>
          <p:spPr>
            <a:xfrm>
              <a:off x="8509" y="8509"/>
              <a:ext cx="12923519" cy="2804160"/>
            </a:xfrm>
            <a:custGeom>
              <a:avLst/>
              <a:gdLst/>
              <a:ahLst/>
              <a:cxnLst/>
              <a:rect l="l" t="t" r="r" b="b"/>
              <a:pathLst>
                <a:path w="12923519" h="2804160">
                  <a:moveTo>
                    <a:pt x="0" y="0"/>
                  </a:moveTo>
                  <a:lnTo>
                    <a:pt x="12923519" y="0"/>
                  </a:lnTo>
                  <a:lnTo>
                    <a:pt x="1292351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12940538" cy="2821178"/>
            </a:xfrm>
            <a:custGeom>
              <a:avLst/>
              <a:gdLst/>
              <a:ahLst/>
              <a:cxnLst/>
              <a:rect l="l" t="t" r="r" b="b"/>
              <a:pathLst>
                <a:path w="12940538" h="282117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2812669"/>
                  </a:lnTo>
                  <a:cubicBezTo>
                    <a:pt x="12940538" y="2817368"/>
                    <a:pt x="12936727" y="2821178"/>
                    <a:pt x="12932028" y="2821178"/>
                  </a:cubicBezTo>
                  <a:lnTo>
                    <a:pt x="8509" y="2821178"/>
                  </a:lnTo>
                  <a:cubicBezTo>
                    <a:pt x="3810" y="2821178"/>
                    <a:pt x="0" y="2817368"/>
                    <a:pt x="0" y="2812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812669"/>
                  </a:lnTo>
                  <a:lnTo>
                    <a:pt x="8509" y="2812669"/>
                  </a:lnTo>
                  <a:lnTo>
                    <a:pt x="8509" y="2804160"/>
                  </a:lnTo>
                  <a:lnTo>
                    <a:pt x="12932028" y="2804160"/>
                  </a:lnTo>
                  <a:lnTo>
                    <a:pt x="12932028" y="2812669"/>
                  </a:lnTo>
                  <a:lnTo>
                    <a:pt x="12923520" y="281266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125463" y="7521959"/>
            <a:ext cx="153419" cy="2128523"/>
            <a:chOff x="0" y="0"/>
            <a:chExt cx="204559" cy="2838031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8399783" y="8107175"/>
            <a:ext cx="830075" cy="830075"/>
            <a:chOff x="0" y="0"/>
            <a:chExt cx="1106767" cy="1106767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1106805" cy="1106678"/>
            </a:xfrm>
            <a:custGeom>
              <a:avLst/>
              <a:gdLst/>
              <a:ahLst/>
              <a:cxnLst/>
              <a:rect l="l" t="t" r="r" b="b"/>
              <a:pathLst>
                <a:path w="1106805" h="1106678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8412480" y="8119872"/>
            <a:ext cx="804672" cy="804672"/>
            <a:chOff x="0" y="0"/>
            <a:chExt cx="1072896" cy="1072896"/>
          </a:xfrm>
        </p:grpSpPr>
        <p:sp>
          <p:nvSpPr>
            <p:cNvPr id="87" name="Freeform 87" descr="preencoded.png"/>
            <p:cNvSpPr/>
            <p:nvPr/>
          </p:nvSpPr>
          <p:spPr>
            <a:xfrm>
              <a:off x="0" y="0"/>
              <a:ext cx="1072896" cy="1072896"/>
            </a:xfrm>
            <a:custGeom>
              <a:avLst/>
              <a:gdLst/>
              <a:ahLst/>
              <a:cxnLst/>
              <a:rect l="l" t="t" r="r" b="b"/>
              <a:pathLst>
                <a:path w="1072896" h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9418320" y="7717536"/>
            <a:ext cx="8229600" cy="694944"/>
            <a:chOff x="0" y="0"/>
            <a:chExt cx="10972800" cy="926592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743" b="-180743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Daily Relationship Care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418320" y="8485632"/>
            <a:ext cx="8229600" cy="1005840"/>
            <a:chOff x="0" y="0"/>
            <a:chExt cx="10972800" cy="13411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0"/>
              <a:ext cx="1097280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0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Fitness has daily apps. Relationships have nothing. Zero tools for everyday emotional health.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3303" y="-927097"/>
            <a:ext cx="6426203" cy="6426203"/>
            <a:chOff x="0" y="0"/>
            <a:chExt cx="8568271" cy="8568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568182" cy="8568182"/>
            </a:xfrm>
            <a:custGeom>
              <a:avLst/>
              <a:gdLst/>
              <a:ahLst/>
              <a:cxnLst/>
              <a:rect l="l" t="t" r="r" b="b"/>
              <a:pathLst>
                <a:path w="8568182" h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927097" y="6388103"/>
            <a:ext cx="4597403" cy="4597403"/>
            <a:chOff x="0" y="0"/>
            <a:chExt cx="6129871" cy="61298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129909" cy="6129782"/>
            </a:xfrm>
            <a:custGeom>
              <a:avLst/>
              <a:gdLst/>
              <a:ahLst/>
              <a:cxnLst/>
              <a:rect l="l" t="t" r="r" b="b"/>
              <a:pathLst>
                <a:path w="6129909" h="6129782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3D158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18823" y="444503"/>
            <a:ext cx="135131" cy="1122683"/>
            <a:chOff x="0" y="0"/>
            <a:chExt cx="180175" cy="149691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46304" cy="1463040"/>
            </a:xfrm>
            <a:custGeom>
              <a:avLst/>
              <a:gdLst/>
              <a:ahLst/>
              <a:cxnLst/>
              <a:rect l="l" t="t" r="r" b="b"/>
              <a:pathLst>
                <a:path w="146304" h="1463040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80086" cy="1496822"/>
            </a:xfrm>
            <a:custGeom>
              <a:avLst/>
              <a:gdLst/>
              <a:ahLst/>
              <a:cxnLst/>
              <a:rect l="l" t="t" r="r" b="b"/>
              <a:pathLst>
                <a:path w="180086" h="14968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457200"/>
            <a:ext cx="15544800" cy="1097280"/>
            <a:chOff x="0" y="0"/>
            <a:chExt cx="2072640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0" cy="1463040"/>
            </a:xfrm>
            <a:custGeom>
              <a:avLst/>
              <a:gdLst/>
              <a:ahLst/>
              <a:cxnLst/>
              <a:rect l="l" t="t" r="r" b="b"/>
              <a:pathLst>
                <a:path w="20726400" h="1463040">
                  <a:moveTo>
                    <a:pt x="0" y="0"/>
                  </a:moveTo>
                  <a:lnTo>
                    <a:pt x="20726400" y="0"/>
                  </a:lnTo>
                  <a:lnTo>
                    <a:pt x="2072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07264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Customers Actually Need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1609344"/>
            <a:ext cx="15544800" cy="548640"/>
            <a:chOff x="0" y="0"/>
            <a:chExt cx="2072640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Validated through real conversations with urban couples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2287" y="2462527"/>
            <a:ext cx="5407657" cy="3213097"/>
            <a:chOff x="0" y="0"/>
            <a:chExt cx="7210209" cy="4284129"/>
          </a:xfrm>
        </p:grpSpPr>
        <p:sp>
          <p:nvSpPr>
            <p:cNvPr id="18" name="Freeform 18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35943" y="2456183"/>
            <a:ext cx="5420363" cy="116843"/>
            <a:chOff x="0" y="0"/>
            <a:chExt cx="7227151" cy="15579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65127" y="2821943"/>
            <a:ext cx="793499" cy="793499"/>
            <a:chOff x="0" y="0"/>
            <a:chExt cx="1057999" cy="105799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77824" y="2834640"/>
            <a:ext cx="768096" cy="768096"/>
            <a:chOff x="0" y="0"/>
            <a:chExt cx="1024128" cy="1024128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865376" y="2871216"/>
            <a:ext cx="3840480" cy="658368"/>
            <a:chOff x="0" y="0"/>
            <a:chExt cx="5120640" cy="8778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Emotional Clarity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7824" y="3858768"/>
            <a:ext cx="4846320" cy="1554480"/>
            <a:chOff x="0" y="0"/>
            <a:chExt cx="6461760" cy="2072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Help couples understand their own emotions before reacting. Reflect, not react.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57871" y="2462527"/>
            <a:ext cx="5407657" cy="3213097"/>
            <a:chOff x="0" y="0"/>
            <a:chExt cx="7210209" cy="4284129"/>
          </a:xfrm>
        </p:grpSpPr>
        <p:sp>
          <p:nvSpPr>
            <p:cNvPr id="35" name="Freeform 35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351527" y="2456183"/>
            <a:ext cx="5420363" cy="116843"/>
            <a:chOff x="0" y="0"/>
            <a:chExt cx="7227151" cy="15579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680711" y="2821943"/>
            <a:ext cx="793499" cy="793499"/>
            <a:chOff x="0" y="0"/>
            <a:chExt cx="1057999" cy="1057999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6693408" y="2834640"/>
            <a:ext cx="768096" cy="768096"/>
            <a:chOff x="0" y="0"/>
            <a:chExt cx="1024128" cy="1024128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7680960" y="2871216"/>
            <a:ext cx="3840480" cy="658368"/>
            <a:chOff x="0" y="0"/>
            <a:chExt cx="5120640" cy="87782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&amp; Anonymous Space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93408" y="3858768"/>
            <a:ext cx="4846320" cy="1554480"/>
            <a:chOff x="0" y="0"/>
            <a:chExt cx="6461760" cy="2072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judgment-free zone where couples can share without fear of stigma.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173455" y="2462527"/>
            <a:ext cx="5407657" cy="3213097"/>
            <a:chOff x="0" y="0"/>
            <a:chExt cx="7210209" cy="4284129"/>
          </a:xfrm>
        </p:grpSpPr>
        <p:sp>
          <p:nvSpPr>
            <p:cNvPr id="52" name="Freeform 52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167111" y="2456183"/>
            <a:ext cx="5420363" cy="116843"/>
            <a:chOff x="0" y="0"/>
            <a:chExt cx="7227151" cy="155791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496295" y="2821943"/>
            <a:ext cx="793499" cy="793499"/>
            <a:chOff x="0" y="0"/>
            <a:chExt cx="1057999" cy="1057999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2508992" y="2834640"/>
            <a:ext cx="768096" cy="768096"/>
            <a:chOff x="0" y="0"/>
            <a:chExt cx="1024128" cy="1024128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3496544" y="2871216"/>
            <a:ext cx="3840480" cy="658368"/>
            <a:chOff x="0" y="0"/>
            <a:chExt cx="5120640" cy="8778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Empathetic Guidance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508992" y="3858768"/>
            <a:ext cx="4846320" cy="1554480"/>
            <a:chOff x="0" y="0"/>
            <a:chExt cx="6461760" cy="20726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Non-biased, 24/7 support that listens and guides — not judges.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42287" y="6028687"/>
            <a:ext cx="5407657" cy="3213097"/>
            <a:chOff x="0" y="0"/>
            <a:chExt cx="7210209" cy="4284129"/>
          </a:xfrm>
        </p:grpSpPr>
        <p:sp>
          <p:nvSpPr>
            <p:cNvPr id="69" name="Freeform 69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35943" y="6022343"/>
            <a:ext cx="5420363" cy="116843"/>
            <a:chOff x="0" y="0"/>
            <a:chExt cx="7227151" cy="155791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865127" y="6388103"/>
            <a:ext cx="793499" cy="793499"/>
            <a:chOff x="0" y="0"/>
            <a:chExt cx="1057999" cy="1057999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877824" y="6400800"/>
            <a:ext cx="768096" cy="768096"/>
            <a:chOff x="0" y="0"/>
            <a:chExt cx="1024128" cy="1024128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865376" y="6437376"/>
            <a:ext cx="3840480" cy="658368"/>
            <a:chOff x="0" y="0"/>
            <a:chExt cx="5120640" cy="87782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Relationship Care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77824" y="7424928"/>
            <a:ext cx="4846320" cy="1554480"/>
            <a:chOff x="0" y="0"/>
            <a:chExt cx="6461760" cy="207264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Like a fitness app — regular check-ins to keep the relationship strong.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357871" y="6028687"/>
            <a:ext cx="5407657" cy="3213097"/>
            <a:chOff x="0" y="0"/>
            <a:chExt cx="7210209" cy="4284129"/>
          </a:xfrm>
        </p:grpSpPr>
        <p:sp>
          <p:nvSpPr>
            <p:cNvPr id="86" name="Freeform 86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6351527" y="6022343"/>
            <a:ext cx="5420363" cy="116843"/>
            <a:chOff x="0" y="0"/>
            <a:chExt cx="7227151" cy="155791"/>
          </a:xfrm>
        </p:grpSpPr>
        <p:sp>
          <p:nvSpPr>
            <p:cNvPr id="89" name="Freeform 89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89EF5"/>
            </a:solidFill>
          </p:spPr>
        </p:sp>
        <p:sp>
          <p:nvSpPr>
            <p:cNvPr id="90" name="Freeform 90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6680711" y="6388103"/>
            <a:ext cx="793499" cy="793499"/>
            <a:chOff x="0" y="0"/>
            <a:chExt cx="1057999" cy="1057999"/>
          </a:xfrm>
        </p:grpSpPr>
        <p:sp>
          <p:nvSpPr>
            <p:cNvPr id="92" name="Freeform 92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89EF5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6693408" y="6400800"/>
            <a:ext cx="768096" cy="768096"/>
            <a:chOff x="0" y="0"/>
            <a:chExt cx="1024128" cy="1024128"/>
          </a:xfrm>
        </p:grpSpPr>
        <p:sp>
          <p:nvSpPr>
            <p:cNvPr id="95" name="Freeform 95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7680960" y="6437376"/>
            <a:ext cx="3840480" cy="658368"/>
            <a:chOff x="0" y="0"/>
            <a:chExt cx="5120640" cy="87782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Conflict De-escalation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93408" y="7424928"/>
            <a:ext cx="4846320" cy="1554480"/>
            <a:chOff x="0" y="0"/>
            <a:chExt cx="6461760" cy="207264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to pause, breathe, and communicate better in heated moments.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173455" y="6028687"/>
            <a:ext cx="5407657" cy="3213097"/>
            <a:chOff x="0" y="0"/>
            <a:chExt cx="7210209" cy="4284129"/>
          </a:xfrm>
        </p:grpSpPr>
        <p:sp>
          <p:nvSpPr>
            <p:cNvPr id="103" name="Freeform 103"/>
            <p:cNvSpPr/>
            <p:nvPr/>
          </p:nvSpPr>
          <p:spPr>
            <a:xfrm>
              <a:off x="8509" y="8509"/>
              <a:ext cx="7193280" cy="4267200"/>
            </a:xfrm>
            <a:custGeom>
              <a:avLst/>
              <a:gdLst/>
              <a:ahLst/>
              <a:cxnLst/>
              <a:rect l="l" t="t" r="r" b="b"/>
              <a:pathLst>
                <a:path w="7193280" h="4267200">
                  <a:moveTo>
                    <a:pt x="0" y="0"/>
                  </a:moveTo>
                  <a:lnTo>
                    <a:pt x="7193280" y="0"/>
                  </a:lnTo>
                  <a:lnTo>
                    <a:pt x="71932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104" name="Freeform 104"/>
            <p:cNvSpPr/>
            <p:nvPr/>
          </p:nvSpPr>
          <p:spPr>
            <a:xfrm>
              <a:off x="0" y="0"/>
              <a:ext cx="7210299" cy="4284218"/>
            </a:xfrm>
            <a:custGeom>
              <a:avLst/>
              <a:gdLst/>
              <a:ahLst/>
              <a:cxnLst/>
              <a:rect l="l" t="t" r="r" b="b"/>
              <a:pathLst>
                <a:path w="7210299" h="4284218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4275709"/>
                  </a:lnTo>
                  <a:cubicBezTo>
                    <a:pt x="7210299" y="4280408"/>
                    <a:pt x="7206488" y="4284218"/>
                    <a:pt x="7201789" y="4284218"/>
                  </a:cubicBezTo>
                  <a:lnTo>
                    <a:pt x="8509" y="4284218"/>
                  </a:lnTo>
                  <a:cubicBezTo>
                    <a:pt x="3810" y="4284218"/>
                    <a:pt x="0" y="4280408"/>
                    <a:pt x="0" y="4275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75709"/>
                  </a:lnTo>
                  <a:lnTo>
                    <a:pt x="8509" y="4275709"/>
                  </a:lnTo>
                  <a:lnTo>
                    <a:pt x="8509" y="4267200"/>
                  </a:lnTo>
                  <a:lnTo>
                    <a:pt x="7201789" y="4267200"/>
                  </a:lnTo>
                  <a:lnTo>
                    <a:pt x="7201789" y="4275709"/>
                  </a:lnTo>
                  <a:lnTo>
                    <a:pt x="7193280" y="42757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2167111" y="6022343"/>
            <a:ext cx="5420363" cy="116843"/>
            <a:chOff x="0" y="0"/>
            <a:chExt cx="7227151" cy="155791"/>
          </a:xfrm>
        </p:grpSpPr>
        <p:sp>
          <p:nvSpPr>
            <p:cNvPr id="106" name="Freeform 106"/>
            <p:cNvSpPr/>
            <p:nvPr/>
          </p:nvSpPr>
          <p:spPr>
            <a:xfrm>
              <a:off x="16891" y="16891"/>
              <a:ext cx="7193281" cy="121920"/>
            </a:xfrm>
            <a:custGeom>
              <a:avLst/>
              <a:gdLst/>
              <a:ahLst/>
              <a:cxnLst/>
              <a:rect l="l" t="t" r="r" b="b"/>
              <a:pathLst>
                <a:path w="7193281" h="121920">
                  <a:moveTo>
                    <a:pt x="0" y="0"/>
                  </a:moveTo>
                  <a:lnTo>
                    <a:pt x="7193281" y="0"/>
                  </a:lnTo>
                  <a:lnTo>
                    <a:pt x="7193281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7227062" cy="155704"/>
            </a:xfrm>
            <a:custGeom>
              <a:avLst/>
              <a:gdLst/>
              <a:ahLst/>
              <a:cxnLst/>
              <a:rect l="l" t="t" r="r" b="b"/>
              <a:pathLst>
                <a:path w="7227062" h="155704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38811"/>
                  </a:lnTo>
                  <a:cubicBezTo>
                    <a:pt x="7227062" y="148209"/>
                    <a:pt x="7219442" y="155702"/>
                    <a:pt x="7210172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210172" y="121920"/>
                  </a:lnTo>
                  <a:lnTo>
                    <a:pt x="7210172" y="138811"/>
                  </a:lnTo>
                  <a:lnTo>
                    <a:pt x="7193280" y="138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12496295" y="6388103"/>
            <a:ext cx="793499" cy="793499"/>
            <a:chOff x="0" y="0"/>
            <a:chExt cx="1057999" cy="1057999"/>
          </a:xfrm>
        </p:grpSpPr>
        <p:sp>
          <p:nvSpPr>
            <p:cNvPr id="109" name="Freeform 109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110" name="Freeform 110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12508992" y="6400800"/>
            <a:ext cx="768096" cy="768096"/>
            <a:chOff x="0" y="0"/>
            <a:chExt cx="1024128" cy="1024128"/>
          </a:xfrm>
        </p:grpSpPr>
        <p:sp>
          <p:nvSpPr>
            <p:cNvPr id="112" name="Freeform 112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13496544" y="6437376"/>
            <a:ext cx="3840480" cy="658368"/>
            <a:chOff x="0" y="0"/>
            <a:chExt cx="5120640" cy="877824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Affordable Expert Access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508992" y="7424928"/>
            <a:ext cx="4846320" cy="1554480"/>
            <a:chOff x="0" y="0"/>
            <a:chExt cx="6461760" cy="20726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04775"/>
              <a:ext cx="6461760" cy="2177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with therapists &amp; counselors at 1/10th the cost of offline therapy.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1707"/>
            <a:chOff x="0" y="0"/>
            <a:chExt cx="24417871" cy="228943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95072"/>
            </a:xfrm>
            <a:custGeom>
              <a:avLst/>
              <a:gdLst/>
              <a:ahLst/>
              <a:cxnLst/>
              <a:rect l="l" t="t" r="r" b="b"/>
              <a:pathLst>
                <a:path w="24383999" h="195072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28856"/>
            </a:xfrm>
            <a:custGeom>
              <a:avLst/>
              <a:gdLst/>
              <a:ahLst/>
              <a:cxnLst/>
              <a:rect l="l" t="t" r="r" b="b"/>
              <a:pathLst>
                <a:path w="24417782" h="22885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1874503" y="133607"/>
            <a:ext cx="6426203" cy="10166099"/>
            <a:chOff x="0" y="0"/>
            <a:chExt cx="8568271" cy="13554799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8534400" cy="13520928"/>
            </a:xfrm>
            <a:custGeom>
              <a:avLst/>
              <a:gdLst/>
              <a:ahLst/>
              <a:cxnLst/>
              <a:rect l="l" t="t" r="r" b="b"/>
              <a:pathLst>
                <a:path w="8534400" h="13520928">
                  <a:moveTo>
                    <a:pt x="0" y="0"/>
                  </a:moveTo>
                  <a:lnTo>
                    <a:pt x="8534400" y="0"/>
                  </a:lnTo>
                  <a:lnTo>
                    <a:pt x="8534400" y="13520928"/>
                  </a:lnTo>
                  <a:lnTo>
                    <a:pt x="0" y="13520928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8568182" cy="13554709"/>
            </a:xfrm>
            <a:custGeom>
              <a:avLst/>
              <a:gdLst/>
              <a:ahLst/>
              <a:cxnLst/>
              <a:rect l="l" t="t" r="r" b="b"/>
              <a:pathLst>
                <a:path w="8568182" h="13554709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537819"/>
                  </a:lnTo>
                  <a:cubicBezTo>
                    <a:pt x="8568182" y="13547217"/>
                    <a:pt x="8560562" y="13554709"/>
                    <a:pt x="8551291" y="13554709"/>
                  </a:cubicBezTo>
                  <a:lnTo>
                    <a:pt x="16891" y="13554709"/>
                  </a:lnTo>
                  <a:cubicBezTo>
                    <a:pt x="7493" y="13554709"/>
                    <a:pt x="0" y="13547089"/>
                    <a:pt x="0" y="1353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37819"/>
                  </a:lnTo>
                  <a:lnTo>
                    <a:pt x="16891" y="13537819"/>
                  </a:lnTo>
                  <a:lnTo>
                    <a:pt x="16891" y="13520928"/>
                  </a:lnTo>
                  <a:lnTo>
                    <a:pt x="8551291" y="13520928"/>
                  </a:lnTo>
                  <a:lnTo>
                    <a:pt x="8551291" y="13537819"/>
                  </a:lnTo>
                  <a:lnTo>
                    <a:pt x="8534400" y="1353781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0A6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716000" y="1005840"/>
            <a:ext cx="2743200" cy="2743200"/>
            <a:chOff x="0" y="0"/>
            <a:chExt cx="3657600" cy="36576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61520" y="4023360"/>
            <a:ext cx="5852160" cy="4023360"/>
            <a:chOff x="0" y="0"/>
            <a:chExt cx="7802880" cy="536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02880" cy="5364480"/>
            </a:xfrm>
            <a:custGeom>
              <a:avLst/>
              <a:gdLst/>
              <a:ahLst/>
              <a:cxnLst/>
              <a:rect l="l" t="t" r="r" b="b"/>
              <a:pathLst>
                <a:path w="7802880" h="5364480">
                  <a:moveTo>
                    <a:pt x="0" y="0"/>
                  </a:moveTo>
                  <a:lnTo>
                    <a:pt x="7802880" y="0"/>
                  </a:lnTo>
                  <a:lnTo>
                    <a:pt x="78028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208" r="-3820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00025"/>
              <a:ext cx="7802880" cy="556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3400" i="1">
                  <a:solidFill>
                    <a:srgbClr val="C89E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"If we can track</a:t>
              </a:r>
            </a:p>
            <a:p>
              <a:pPr algn="ctr">
                <a:lnSpc>
                  <a:spcPts val="6120"/>
                </a:lnSpc>
              </a:pPr>
              <a:r>
                <a:rPr lang="en-US" sz="3400" i="1">
                  <a:solidFill>
                    <a:srgbClr val="C89E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fitness daily,</a:t>
              </a:r>
            </a:p>
            <a:p>
              <a:pPr algn="ctr">
                <a:lnSpc>
                  <a:spcPts val="6120"/>
                </a:lnSpc>
              </a:pPr>
              <a:r>
                <a:rPr lang="en-US" sz="3400" i="1">
                  <a:solidFill>
                    <a:srgbClr val="C89E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why not</a:t>
              </a:r>
            </a:p>
            <a:p>
              <a:pPr algn="ctr">
                <a:lnSpc>
                  <a:spcPts val="6120"/>
                </a:lnSpc>
              </a:pPr>
              <a:r>
                <a:rPr lang="en-US" sz="3400" i="1">
                  <a:solidFill>
                    <a:srgbClr val="C89E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relationships?"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03303" y="8216903"/>
            <a:ext cx="1854203" cy="98555"/>
            <a:chOff x="0" y="0"/>
            <a:chExt cx="2472271" cy="131407"/>
          </a:xfrm>
        </p:grpSpPr>
        <p:sp>
          <p:nvSpPr>
            <p:cNvPr id="14" name="Freeform 14"/>
            <p:cNvSpPr/>
            <p:nvPr/>
          </p:nvSpPr>
          <p:spPr>
            <a:xfrm>
              <a:off x="16891" y="16891"/>
              <a:ext cx="2438400" cy="97536"/>
            </a:xfrm>
            <a:custGeom>
              <a:avLst/>
              <a:gdLst/>
              <a:ahLst/>
              <a:cxnLst/>
              <a:rect l="l" t="t" r="r" b="b"/>
              <a:pathLst>
                <a:path w="2438400" h="97536">
                  <a:moveTo>
                    <a:pt x="0" y="0"/>
                  </a:moveTo>
                  <a:lnTo>
                    <a:pt x="2438400" y="0"/>
                  </a:lnTo>
                  <a:lnTo>
                    <a:pt x="2438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472182" cy="131320"/>
            </a:xfrm>
            <a:custGeom>
              <a:avLst/>
              <a:gdLst/>
              <a:ahLst/>
              <a:cxnLst/>
              <a:rect l="l" t="t" r="r" b="b"/>
              <a:pathLst>
                <a:path w="2472182" h="131320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14427"/>
                  </a:lnTo>
                  <a:cubicBezTo>
                    <a:pt x="2472182" y="123825"/>
                    <a:pt x="2464562" y="131318"/>
                    <a:pt x="2455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55291" y="97536"/>
                  </a:lnTo>
                  <a:lnTo>
                    <a:pt x="2455291" y="114427"/>
                  </a:lnTo>
                  <a:lnTo>
                    <a:pt x="2438400" y="114427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161520" y="8503920"/>
            <a:ext cx="5852160" cy="548640"/>
            <a:chOff x="0" y="0"/>
            <a:chExt cx="780288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spc="400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Prevention &gt; Cure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18823" y="389639"/>
            <a:ext cx="135131" cy="1122683"/>
            <a:chOff x="0" y="0"/>
            <a:chExt cx="180175" cy="149691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146304" cy="1463040"/>
            </a:xfrm>
            <a:custGeom>
              <a:avLst/>
              <a:gdLst/>
              <a:ahLst/>
              <a:cxnLst/>
              <a:rect l="l" t="t" r="r" b="b"/>
              <a:pathLst>
                <a:path w="146304" h="1463040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80086" cy="1496822"/>
            </a:xfrm>
            <a:custGeom>
              <a:avLst/>
              <a:gdLst/>
              <a:ahLst/>
              <a:cxnLst/>
              <a:rect l="l" t="t" r="r" b="b"/>
              <a:pathLst>
                <a:path w="180086" h="14968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97280" y="402336"/>
            <a:ext cx="10058400" cy="1828800"/>
            <a:chOff x="0" y="0"/>
            <a:chExt cx="13411200" cy="2438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11200" cy="2438400"/>
            </a:xfrm>
            <a:custGeom>
              <a:avLst/>
              <a:gdLst/>
              <a:ahLst/>
              <a:cxnLst/>
              <a:rect l="l" t="t" r="r" b="b"/>
              <a:pathLst>
                <a:path w="13411200" h="2438400">
                  <a:moveTo>
                    <a:pt x="0" y="0"/>
                  </a:moveTo>
                  <a:lnTo>
                    <a:pt x="13411200" y="0"/>
                  </a:lnTo>
                  <a:lnTo>
                    <a:pt x="134112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52400"/>
              <a:ext cx="13411200" cy="2590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216"/>
                </a:lnSpc>
              </a:pPr>
              <a:r>
                <a:rPr lang="en-US" sz="6400" b="1">
                  <a:solidFill>
                    <a:srgbClr val="1A054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I Built</a:t>
              </a:r>
            </a:p>
            <a:p>
              <a:pPr algn="l">
                <a:lnSpc>
                  <a:spcPts val="9216"/>
                </a:lnSpc>
              </a:pPr>
              <a:r>
                <a:rPr lang="en-US" sz="6400" b="1">
                  <a:solidFill>
                    <a:srgbClr val="1A054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This Idea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42287" y="2645407"/>
            <a:ext cx="10802617" cy="1548889"/>
            <a:chOff x="0" y="0"/>
            <a:chExt cx="14403489" cy="2065185"/>
          </a:xfrm>
        </p:grpSpPr>
        <p:sp>
          <p:nvSpPr>
            <p:cNvPr id="26" name="Freeform 26"/>
            <p:cNvSpPr/>
            <p:nvPr/>
          </p:nvSpPr>
          <p:spPr>
            <a:xfrm>
              <a:off x="8509" y="8509"/>
              <a:ext cx="14386561" cy="2048256"/>
            </a:xfrm>
            <a:custGeom>
              <a:avLst/>
              <a:gdLst/>
              <a:ahLst/>
              <a:cxnLst/>
              <a:rect l="l" t="t" r="r" b="b"/>
              <a:pathLst>
                <a:path w="14386561" h="2048256">
                  <a:moveTo>
                    <a:pt x="0" y="0"/>
                  </a:moveTo>
                  <a:lnTo>
                    <a:pt x="14386561" y="0"/>
                  </a:lnTo>
                  <a:lnTo>
                    <a:pt x="14386561" y="2048256"/>
                  </a:lnTo>
                  <a:lnTo>
                    <a:pt x="0" y="20482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4403578" cy="2065274"/>
            </a:xfrm>
            <a:custGeom>
              <a:avLst/>
              <a:gdLst/>
              <a:ahLst/>
              <a:cxnLst/>
              <a:rect l="l" t="t" r="r" b="b"/>
              <a:pathLst>
                <a:path w="14403578" h="2065274">
                  <a:moveTo>
                    <a:pt x="8509" y="0"/>
                  </a:moveTo>
                  <a:lnTo>
                    <a:pt x="14395070" y="0"/>
                  </a:lnTo>
                  <a:cubicBezTo>
                    <a:pt x="14399769" y="0"/>
                    <a:pt x="14403578" y="3810"/>
                    <a:pt x="14403578" y="8509"/>
                  </a:cubicBezTo>
                  <a:lnTo>
                    <a:pt x="14403578" y="2056765"/>
                  </a:lnTo>
                  <a:cubicBezTo>
                    <a:pt x="14403578" y="2061464"/>
                    <a:pt x="14399769" y="2065274"/>
                    <a:pt x="14395070" y="2065274"/>
                  </a:cubicBezTo>
                  <a:lnTo>
                    <a:pt x="8509" y="2065274"/>
                  </a:lnTo>
                  <a:cubicBezTo>
                    <a:pt x="3810" y="2065274"/>
                    <a:pt x="0" y="2061464"/>
                    <a:pt x="0" y="20567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56765"/>
                  </a:lnTo>
                  <a:lnTo>
                    <a:pt x="8509" y="2056765"/>
                  </a:lnTo>
                  <a:lnTo>
                    <a:pt x="8509" y="2048256"/>
                  </a:lnTo>
                  <a:lnTo>
                    <a:pt x="14395070" y="2048256"/>
                  </a:lnTo>
                  <a:lnTo>
                    <a:pt x="14395070" y="2056765"/>
                  </a:lnTo>
                  <a:lnTo>
                    <a:pt x="14386561" y="2056765"/>
                  </a:lnTo>
                  <a:lnTo>
                    <a:pt x="14386561" y="8509"/>
                  </a:lnTo>
                  <a:lnTo>
                    <a:pt x="14395070" y="8509"/>
                  </a:lnTo>
                  <a:lnTo>
                    <a:pt x="143950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55399" y="3004823"/>
            <a:ext cx="793499" cy="793499"/>
            <a:chOff x="0" y="0"/>
            <a:chExt cx="1057999" cy="1057999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68096" y="3017520"/>
            <a:ext cx="768096" cy="768096"/>
            <a:chOff x="0" y="0"/>
            <a:chExt cx="1024128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55648" y="2980944"/>
            <a:ext cx="731520" cy="731520"/>
            <a:chOff x="0" y="0"/>
            <a:chExt cx="975360" cy="975360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2651760" y="2761488"/>
            <a:ext cx="8412480" cy="603504"/>
            <a:chOff x="0" y="0"/>
            <a:chExt cx="1121664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216640" cy="804672"/>
            </a:xfrm>
            <a:custGeom>
              <a:avLst/>
              <a:gdLst/>
              <a:ahLst/>
              <a:cxnLst/>
              <a:rect l="l" t="t" r="r" b="b"/>
              <a:pathLst>
                <a:path w="11216640" h="804672">
                  <a:moveTo>
                    <a:pt x="0" y="0"/>
                  </a:moveTo>
                  <a:lnTo>
                    <a:pt x="11216640" y="0"/>
                  </a:lnTo>
                  <a:lnTo>
                    <a:pt x="11216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609" b="-22160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12166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Observed the Pain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51760" y="3401568"/>
            <a:ext cx="8412480" cy="658368"/>
            <a:chOff x="0" y="0"/>
            <a:chExt cx="11216640" cy="8778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216640" cy="877824"/>
            </a:xfrm>
            <a:custGeom>
              <a:avLst/>
              <a:gdLst/>
              <a:ahLst/>
              <a:cxnLst/>
              <a:rect l="l" t="t" r="r" b="b"/>
              <a:pathLst>
                <a:path w="11216640" h="877824">
                  <a:moveTo>
                    <a:pt x="0" y="0"/>
                  </a:moveTo>
                  <a:lnTo>
                    <a:pt x="11216640" y="0"/>
                  </a:lnTo>
                  <a:lnTo>
                    <a:pt x="11216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1216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Watched friends and family lose relationships over small, solvable misunderstandings.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42287" y="4419343"/>
            <a:ext cx="10802617" cy="1548889"/>
            <a:chOff x="0" y="0"/>
            <a:chExt cx="14403489" cy="2065185"/>
          </a:xfrm>
        </p:grpSpPr>
        <p:sp>
          <p:nvSpPr>
            <p:cNvPr id="43" name="Freeform 43"/>
            <p:cNvSpPr/>
            <p:nvPr/>
          </p:nvSpPr>
          <p:spPr>
            <a:xfrm>
              <a:off x="8509" y="8509"/>
              <a:ext cx="14386561" cy="2048256"/>
            </a:xfrm>
            <a:custGeom>
              <a:avLst/>
              <a:gdLst/>
              <a:ahLst/>
              <a:cxnLst/>
              <a:rect l="l" t="t" r="r" b="b"/>
              <a:pathLst>
                <a:path w="14386561" h="2048256">
                  <a:moveTo>
                    <a:pt x="0" y="0"/>
                  </a:moveTo>
                  <a:lnTo>
                    <a:pt x="14386561" y="0"/>
                  </a:lnTo>
                  <a:lnTo>
                    <a:pt x="14386561" y="2048256"/>
                  </a:lnTo>
                  <a:lnTo>
                    <a:pt x="0" y="20482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4403578" cy="2065274"/>
            </a:xfrm>
            <a:custGeom>
              <a:avLst/>
              <a:gdLst/>
              <a:ahLst/>
              <a:cxnLst/>
              <a:rect l="l" t="t" r="r" b="b"/>
              <a:pathLst>
                <a:path w="14403578" h="2065274">
                  <a:moveTo>
                    <a:pt x="8509" y="0"/>
                  </a:moveTo>
                  <a:lnTo>
                    <a:pt x="14395070" y="0"/>
                  </a:lnTo>
                  <a:cubicBezTo>
                    <a:pt x="14399769" y="0"/>
                    <a:pt x="14403578" y="3810"/>
                    <a:pt x="14403578" y="8509"/>
                  </a:cubicBezTo>
                  <a:lnTo>
                    <a:pt x="14403578" y="2056765"/>
                  </a:lnTo>
                  <a:cubicBezTo>
                    <a:pt x="14403578" y="2061464"/>
                    <a:pt x="14399769" y="2065274"/>
                    <a:pt x="14395070" y="2065274"/>
                  </a:cubicBezTo>
                  <a:lnTo>
                    <a:pt x="8509" y="2065274"/>
                  </a:lnTo>
                  <a:cubicBezTo>
                    <a:pt x="3810" y="2065274"/>
                    <a:pt x="0" y="2061464"/>
                    <a:pt x="0" y="20567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56765"/>
                  </a:lnTo>
                  <a:lnTo>
                    <a:pt x="8509" y="2056765"/>
                  </a:lnTo>
                  <a:lnTo>
                    <a:pt x="8509" y="2048256"/>
                  </a:lnTo>
                  <a:lnTo>
                    <a:pt x="14395070" y="2048256"/>
                  </a:lnTo>
                  <a:lnTo>
                    <a:pt x="14395070" y="2056765"/>
                  </a:lnTo>
                  <a:lnTo>
                    <a:pt x="14386561" y="2056765"/>
                  </a:lnTo>
                  <a:lnTo>
                    <a:pt x="14386561" y="8509"/>
                  </a:lnTo>
                  <a:lnTo>
                    <a:pt x="14395070" y="8509"/>
                  </a:lnTo>
                  <a:lnTo>
                    <a:pt x="143950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755399" y="4778759"/>
            <a:ext cx="793499" cy="793499"/>
            <a:chOff x="0" y="0"/>
            <a:chExt cx="1057999" cy="1057999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768096" y="4791456"/>
            <a:ext cx="768096" cy="768096"/>
            <a:chOff x="0" y="0"/>
            <a:chExt cx="1024128" cy="102412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55648" y="4754880"/>
            <a:ext cx="731520" cy="731520"/>
            <a:chOff x="0" y="0"/>
            <a:chExt cx="975360" cy="975360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2651760" y="4535424"/>
            <a:ext cx="8412480" cy="603504"/>
            <a:chOff x="0" y="0"/>
            <a:chExt cx="11216640" cy="80467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216640" cy="804672"/>
            </a:xfrm>
            <a:custGeom>
              <a:avLst/>
              <a:gdLst/>
              <a:ahLst/>
              <a:cxnLst/>
              <a:rect l="l" t="t" r="r" b="b"/>
              <a:pathLst>
                <a:path w="11216640" h="804672">
                  <a:moveTo>
                    <a:pt x="0" y="0"/>
                  </a:moveTo>
                  <a:lnTo>
                    <a:pt x="11216640" y="0"/>
                  </a:lnTo>
                  <a:lnTo>
                    <a:pt x="11216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609" b="-22160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12166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Identified the Gap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651760" y="5175504"/>
            <a:ext cx="8412480" cy="658368"/>
            <a:chOff x="0" y="0"/>
            <a:chExt cx="11216640" cy="87782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216640" cy="877824"/>
            </a:xfrm>
            <a:custGeom>
              <a:avLst/>
              <a:gdLst/>
              <a:ahLst/>
              <a:cxnLst/>
              <a:rect l="l" t="t" r="r" b="b"/>
              <a:pathLst>
                <a:path w="11216640" h="877824">
                  <a:moveTo>
                    <a:pt x="0" y="0"/>
                  </a:moveTo>
                  <a:lnTo>
                    <a:pt x="11216640" y="0"/>
                  </a:lnTo>
                  <a:lnTo>
                    <a:pt x="11216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1216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Therapy is expensive (₹2K+/session) and arrives too late. No affordable prevention tool exists.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42287" y="6193279"/>
            <a:ext cx="10802617" cy="1548889"/>
            <a:chOff x="0" y="0"/>
            <a:chExt cx="14403489" cy="2065185"/>
          </a:xfrm>
        </p:grpSpPr>
        <p:sp>
          <p:nvSpPr>
            <p:cNvPr id="60" name="Freeform 60"/>
            <p:cNvSpPr/>
            <p:nvPr/>
          </p:nvSpPr>
          <p:spPr>
            <a:xfrm>
              <a:off x="8509" y="8509"/>
              <a:ext cx="14386561" cy="2048256"/>
            </a:xfrm>
            <a:custGeom>
              <a:avLst/>
              <a:gdLst/>
              <a:ahLst/>
              <a:cxnLst/>
              <a:rect l="l" t="t" r="r" b="b"/>
              <a:pathLst>
                <a:path w="14386561" h="2048256">
                  <a:moveTo>
                    <a:pt x="0" y="0"/>
                  </a:moveTo>
                  <a:lnTo>
                    <a:pt x="14386561" y="0"/>
                  </a:lnTo>
                  <a:lnTo>
                    <a:pt x="14386561" y="2048256"/>
                  </a:lnTo>
                  <a:lnTo>
                    <a:pt x="0" y="20482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14403578" cy="2065274"/>
            </a:xfrm>
            <a:custGeom>
              <a:avLst/>
              <a:gdLst/>
              <a:ahLst/>
              <a:cxnLst/>
              <a:rect l="l" t="t" r="r" b="b"/>
              <a:pathLst>
                <a:path w="14403578" h="2065274">
                  <a:moveTo>
                    <a:pt x="8509" y="0"/>
                  </a:moveTo>
                  <a:lnTo>
                    <a:pt x="14395070" y="0"/>
                  </a:lnTo>
                  <a:cubicBezTo>
                    <a:pt x="14399769" y="0"/>
                    <a:pt x="14403578" y="3810"/>
                    <a:pt x="14403578" y="8509"/>
                  </a:cubicBezTo>
                  <a:lnTo>
                    <a:pt x="14403578" y="2056765"/>
                  </a:lnTo>
                  <a:cubicBezTo>
                    <a:pt x="14403578" y="2061464"/>
                    <a:pt x="14399769" y="2065274"/>
                    <a:pt x="14395070" y="2065274"/>
                  </a:cubicBezTo>
                  <a:lnTo>
                    <a:pt x="8509" y="2065274"/>
                  </a:lnTo>
                  <a:cubicBezTo>
                    <a:pt x="3810" y="2065274"/>
                    <a:pt x="0" y="2061464"/>
                    <a:pt x="0" y="20567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56765"/>
                  </a:lnTo>
                  <a:lnTo>
                    <a:pt x="8509" y="2056765"/>
                  </a:lnTo>
                  <a:lnTo>
                    <a:pt x="8509" y="2048256"/>
                  </a:lnTo>
                  <a:lnTo>
                    <a:pt x="14395070" y="2048256"/>
                  </a:lnTo>
                  <a:lnTo>
                    <a:pt x="14395070" y="2056765"/>
                  </a:lnTo>
                  <a:lnTo>
                    <a:pt x="14386561" y="2056765"/>
                  </a:lnTo>
                  <a:lnTo>
                    <a:pt x="14386561" y="8509"/>
                  </a:lnTo>
                  <a:lnTo>
                    <a:pt x="14395070" y="8509"/>
                  </a:lnTo>
                  <a:lnTo>
                    <a:pt x="143950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755399" y="6552695"/>
            <a:ext cx="793499" cy="793499"/>
            <a:chOff x="0" y="0"/>
            <a:chExt cx="1057999" cy="105799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768096" y="6565392"/>
            <a:ext cx="768096" cy="768096"/>
            <a:chOff x="0" y="0"/>
            <a:chExt cx="1024128" cy="10241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55648" y="6528816"/>
            <a:ext cx="731520" cy="731520"/>
            <a:chOff x="0" y="0"/>
            <a:chExt cx="975360" cy="975360"/>
          </a:xfrm>
        </p:grpSpPr>
        <p:sp>
          <p:nvSpPr>
            <p:cNvPr id="69" name="Freeform 69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2651760" y="6309360"/>
            <a:ext cx="8412480" cy="603504"/>
            <a:chOff x="0" y="0"/>
            <a:chExt cx="11216640" cy="80467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216640" cy="804672"/>
            </a:xfrm>
            <a:custGeom>
              <a:avLst/>
              <a:gdLst/>
              <a:ahLst/>
              <a:cxnLst/>
              <a:rect l="l" t="t" r="r" b="b"/>
              <a:pathLst>
                <a:path w="11216640" h="804672">
                  <a:moveTo>
                    <a:pt x="0" y="0"/>
                  </a:moveTo>
                  <a:lnTo>
                    <a:pt x="11216640" y="0"/>
                  </a:lnTo>
                  <a:lnTo>
                    <a:pt x="11216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609" b="-22160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12166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Core Insight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651760" y="6949440"/>
            <a:ext cx="8412480" cy="658368"/>
            <a:chOff x="0" y="0"/>
            <a:chExt cx="11216640" cy="87782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216640" cy="877824"/>
            </a:xfrm>
            <a:custGeom>
              <a:avLst/>
              <a:gdLst/>
              <a:ahLst/>
              <a:cxnLst/>
              <a:rect l="l" t="t" r="r" b="b"/>
              <a:pathLst>
                <a:path w="11216640" h="877824">
                  <a:moveTo>
                    <a:pt x="0" y="0"/>
                  </a:moveTo>
                  <a:lnTo>
                    <a:pt x="11216640" y="0"/>
                  </a:lnTo>
                  <a:lnTo>
                    <a:pt x="11216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11216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relationship care = prevention. Like fitness apps track health, we track emotional connection.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42287" y="7967215"/>
            <a:ext cx="10802617" cy="1548889"/>
            <a:chOff x="0" y="0"/>
            <a:chExt cx="14403489" cy="2065185"/>
          </a:xfrm>
        </p:grpSpPr>
        <p:sp>
          <p:nvSpPr>
            <p:cNvPr id="77" name="Freeform 77"/>
            <p:cNvSpPr/>
            <p:nvPr/>
          </p:nvSpPr>
          <p:spPr>
            <a:xfrm>
              <a:off x="8509" y="8509"/>
              <a:ext cx="14386561" cy="2048256"/>
            </a:xfrm>
            <a:custGeom>
              <a:avLst/>
              <a:gdLst/>
              <a:ahLst/>
              <a:cxnLst/>
              <a:rect l="l" t="t" r="r" b="b"/>
              <a:pathLst>
                <a:path w="14386561" h="2048256">
                  <a:moveTo>
                    <a:pt x="0" y="0"/>
                  </a:moveTo>
                  <a:lnTo>
                    <a:pt x="14386561" y="0"/>
                  </a:lnTo>
                  <a:lnTo>
                    <a:pt x="14386561" y="2048256"/>
                  </a:lnTo>
                  <a:lnTo>
                    <a:pt x="0" y="20482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14403578" cy="2065274"/>
            </a:xfrm>
            <a:custGeom>
              <a:avLst/>
              <a:gdLst/>
              <a:ahLst/>
              <a:cxnLst/>
              <a:rect l="l" t="t" r="r" b="b"/>
              <a:pathLst>
                <a:path w="14403578" h="2065274">
                  <a:moveTo>
                    <a:pt x="8509" y="0"/>
                  </a:moveTo>
                  <a:lnTo>
                    <a:pt x="14395070" y="0"/>
                  </a:lnTo>
                  <a:cubicBezTo>
                    <a:pt x="14399769" y="0"/>
                    <a:pt x="14403578" y="3810"/>
                    <a:pt x="14403578" y="8509"/>
                  </a:cubicBezTo>
                  <a:lnTo>
                    <a:pt x="14403578" y="2056765"/>
                  </a:lnTo>
                  <a:cubicBezTo>
                    <a:pt x="14403578" y="2061464"/>
                    <a:pt x="14399769" y="2065274"/>
                    <a:pt x="14395070" y="2065274"/>
                  </a:cubicBezTo>
                  <a:lnTo>
                    <a:pt x="8509" y="2065274"/>
                  </a:lnTo>
                  <a:cubicBezTo>
                    <a:pt x="3810" y="2065274"/>
                    <a:pt x="0" y="2061464"/>
                    <a:pt x="0" y="20567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56765"/>
                  </a:lnTo>
                  <a:lnTo>
                    <a:pt x="8509" y="2056765"/>
                  </a:lnTo>
                  <a:lnTo>
                    <a:pt x="8509" y="2048256"/>
                  </a:lnTo>
                  <a:lnTo>
                    <a:pt x="14395070" y="2048256"/>
                  </a:lnTo>
                  <a:lnTo>
                    <a:pt x="14395070" y="2056765"/>
                  </a:lnTo>
                  <a:lnTo>
                    <a:pt x="14386561" y="2056765"/>
                  </a:lnTo>
                  <a:lnTo>
                    <a:pt x="14386561" y="8509"/>
                  </a:lnTo>
                  <a:lnTo>
                    <a:pt x="14395070" y="8509"/>
                  </a:lnTo>
                  <a:lnTo>
                    <a:pt x="143950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755399" y="8326631"/>
            <a:ext cx="793499" cy="793499"/>
            <a:chOff x="0" y="0"/>
            <a:chExt cx="1057999" cy="1057999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768096" y="8339328"/>
            <a:ext cx="768096" cy="768096"/>
            <a:chOff x="0" y="0"/>
            <a:chExt cx="1024128" cy="102412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755648" y="8302752"/>
            <a:ext cx="731520" cy="731520"/>
            <a:chOff x="0" y="0"/>
            <a:chExt cx="975360" cy="975360"/>
          </a:xfrm>
        </p:grpSpPr>
        <p:sp>
          <p:nvSpPr>
            <p:cNvPr id="86" name="Freeform 86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2651760" y="8083296"/>
            <a:ext cx="8412480" cy="603504"/>
            <a:chOff x="0" y="0"/>
            <a:chExt cx="11216640" cy="80467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1216640" cy="804672"/>
            </a:xfrm>
            <a:custGeom>
              <a:avLst/>
              <a:gdLst/>
              <a:ahLst/>
              <a:cxnLst/>
              <a:rect l="l" t="t" r="r" b="b"/>
              <a:pathLst>
                <a:path w="11216640" h="804672">
                  <a:moveTo>
                    <a:pt x="0" y="0"/>
                  </a:moveTo>
                  <a:lnTo>
                    <a:pt x="11216640" y="0"/>
                  </a:lnTo>
                  <a:lnTo>
                    <a:pt x="11216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609" b="-221609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112166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the Solution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2651760" y="8723376"/>
            <a:ext cx="8412480" cy="658368"/>
            <a:chOff x="0" y="0"/>
            <a:chExt cx="11216640" cy="87782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1216640" cy="877824"/>
            </a:xfrm>
            <a:custGeom>
              <a:avLst/>
              <a:gdLst/>
              <a:ahLst/>
              <a:cxnLst/>
              <a:rect l="l" t="t" r="r" b="b"/>
              <a:pathLst>
                <a:path w="11216640" h="877824">
                  <a:moveTo>
                    <a:pt x="0" y="0"/>
                  </a:moveTo>
                  <a:lnTo>
                    <a:pt x="11216640" y="0"/>
                  </a:lnTo>
                  <a:lnTo>
                    <a:pt x="11216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1216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4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AI-powered platform that monitors, guides, and strengthens relationships every single day.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18823" y="353063"/>
            <a:ext cx="135131" cy="1214123"/>
            <a:chOff x="0" y="0"/>
            <a:chExt cx="180175" cy="161883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584960"/>
            </a:xfrm>
            <a:custGeom>
              <a:avLst/>
              <a:gdLst/>
              <a:ahLst/>
              <a:cxnLst/>
              <a:rect l="l" t="t" r="r" b="b"/>
              <a:pathLst>
                <a:path w="146304" h="1584960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618742"/>
            </a:xfrm>
            <a:custGeom>
              <a:avLst/>
              <a:gdLst/>
              <a:ahLst/>
              <a:cxnLst/>
              <a:rect l="l" t="t" r="r" b="b"/>
              <a:pathLst>
                <a:path w="180086" h="1618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365760"/>
            <a:ext cx="16459200" cy="1188720"/>
            <a:chOff x="0" y="0"/>
            <a:chExt cx="21945600" cy="1584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Solution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1609344"/>
            <a:ext cx="15544800" cy="548640"/>
            <a:chOff x="0" y="0"/>
            <a:chExt cx="207264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AI-powered platform that prevents relationship damage before it happens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364743"/>
            <a:ext cx="17216123" cy="1342139"/>
            <a:chOff x="0" y="0"/>
            <a:chExt cx="22954831" cy="178951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22920960" cy="1755648"/>
            </a:xfrm>
            <a:custGeom>
              <a:avLst/>
              <a:gdLst/>
              <a:ahLst/>
              <a:cxnLst/>
              <a:rect l="l" t="t" r="r" b="b"/>
              <a:pathLst>
                <a:path w="22920960" h="1755648">
                  <a:moveTo>
                    <a:pt x="0" y="0"/>
                  </a:moveTo>
                  <a:lnTo>
                    <a:pt x="22920960" y="0"/>
                  </a:lnTo>
                  <a:lnTo>
                    <a:pt x="229209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2954743" cy="1789430"/>
            </a:xfrm>
            <a:custGeom>
              <a:avLst/>
              <a:gdLst/>
              <a:ahLst/>
              <a:cxnLst/>
              <a:rect l="l" t="t" r="r" b="b"/>
              <a:pathLst>
                <a:path w="22954743" h="1789430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772539"/>
                  </a:lnTo>
                  <a:cubicBezTo>
                    <a:pt x="22954743" y="1781937"/>
                    <a:pt x="22947123" y="1789430"/>
                    <a:pt x="2293785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937851" y="1755648"/>
                  </a:lnTo>
                  <a:lnTo>
                    <a:pt x="22937851" y="1772539"/>
                  </a:lnTo>
                  <a:lnTo>
                    <a:pt x="22920961" y="177253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05840" y="2523744"/>
            <a:ext cx="950976" cy="950976"/>
            <a:chOff x="0" y="0"/>
            <a:chExt cx="1267968" cy="126796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2194560" y="2468880"/>
            <a:ext cx="15179040" cy="1133856"/>
            <a:chOff x="0" y="0"/>
            <a:chExt cx="20238720" cy="1511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238720" cy="1511808"/>
            </a:xfrm>
            <a:custGeom>
              <a:avLst/>
              <a:gdLst/>
              <a:ahLst/>
              <a:cxnLst/>
              <a:rect l="l" t="t" r="r" b="b"/>
              <a:pathLst>
                <a:path w="20238720" h="1511808">
                  <a:moveTo>
                    <a:pt x="0" y="0"/>
                  </a:moveTo>
                  <a:lnTo>
                    <a:pt x="20238720" y="0"/>
                  </a:lnTo>
                  <a:lnTo>
                    <a:pt x="202387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848" b="-21084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238720" cy="1549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CoupleCare uses AI to detect early signs of emotional disconnect and guides couples back to harmony — before a fight becomes a breakup.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8477" y="4013197"/>
            <a:ext cx="8432797" cy="2672077"/>
            <a:chOff x="0" y="0"/>
            <a:chExt cx="11243729" cy="3562769"/>
          </a:xfrm>
        </p:grpSpPr>
        <p:sp>
          <p:nvSpPr>
            <p:cNvPr id="23" name="Freeform 23"/>
            <p:cNvSpPr/>
            <p:nvPr/>
          </p:nvSpPr>
          <p:spPr>
            <a:xfrm>
              <a:off x="13589" y="13589"/>
              <a:ext cx="11216640" cy="3535680"/>
            </a:xfrm>
            <a:custGeom>
              <a:avLst/>
              <a:gdLst/>
              <a:ahLst/>
              <a:cxnLst/>
              <a:rect l="l" t="t" r="r" b="b"/>
              <a:pathLst>
                <a:path w="11216640" h="3535680">
                  <a:moveTo>
                    <a:pt x="0" y="0"/>
                  </a:moveTo>
                  <a:lnTo>
                    <a:pt x="11216640" y="0"/>
                  </a:lnTo>
                  <a:lnTo>
                    <a:pt x="11216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1243818" cy="3562858"/>
            </a:xfrm>
            <a:custGeom>
              <a:avLst/>
              <a:gdLst/>
              <a:ahLst/>
              <a:cxnLst/>
              <a:rect l="l" t="t" r="r" b="b"/>
              <a:pathLst>
                <a:path w="11243818" h="356285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3549269"/>
                  </a:lnTo>
                  <a:cubicBezTo>
                    <a:pt x="11243818" y="3556762"/>
                    <a:pt x="11237722" y="3562858"/>
                    <a:pt x="11230229" y="3562858"/>
                  </a:cubicBezTo>
                  <a:lnTo>
                    <a:pt x="13589" y="3562858"/>
                  </a:lnTo>
                  <a:cubicBezTo>
                    <a:pt x="6096" y="3562858"/>
                    <a:pt x="0" y="3556762"/>
                    <a:pt x="0" y="35492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549269"/>
                  </a:lnTo>
                  <a:lnTo>
                    <a:pt x="13589" y="3549269"/>
                  </a:lnTo>
                  <a:lnTo>
                    <a:pt x="13589" y="3535680"/>
                  </a:lnTo>
                  <a:lnTo>
                    <a:pt x="11230229" y="3535680"/>
                  </a:lnTo>
                  <a:lnTo>
                    <a:pt x="11230229" y="3549269"/>
                  </a:lnTo>
                  <a:lnTo>
                    <a:pt x="11216640" y="3549269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65127" y="4870199"/>
            <a:ext cx="903227" cy="903227"/>
            <a:chOff x="0" y="0"/>
            <a:chExt cx="1204303" cy="1204303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77824" y="4882896"/>
            <a:ext cx="877824" cy="877824"/>
            <a:chOff x="0" y="0"/>
            <a:chExt cx="1170432" cy="1170432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77824" y="4169664"/>
            <a:ext cx="7680960" cy="676656"/>
            <a:chOff x="0" y="0"/>
            <a:chExt cx="10241280" cy="9022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1280" cy="902208"/>
            </a:xfrm>
            <a:custGeom>
              <a:avLst/>
              <a:gdLst/>
              <a:ahLst/>
              <a:cxnLst/>
              <a:rect l="l" t="t" r="r" b="b"/>
              <a:pathLst>
                <a:path w="10241280" h="902208">
                  <a:moveTo>
                    <a:pt x="0" y="0"/>
                  </a:moveTo>
                  <a:lnTo>
                    <a:pt x="10241280" y="0"/>
                  </a:lnTo>
                  <a:lnTo>
                    <a:pt x="10241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181" b="-17118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24128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Emotional Analysis 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975104" y="4937760"/>
            <a:ext cx="6766560" cy="1499616"/>
            <a:chOff x="0" y="0"/>
            <a:chExt cx="9022080" cy="19994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022080" cy="1999488"/>
            </a:xfrm>
            <a:custGeom>
              <a:avLst/>
              <a:gdLst/>
              <a:ahLst/>
              <a:cxnLst/>
              <a:rect l="l" t="t" r="r" b="b"/>
              <a:pathLst>
                <a:path w="9022080" h="1999488">
                  <a:moveTo>
                    <a:pt x="0" y="0"/>
                  </a:moveTo>
                  <a:lnTo>
                    <a:pt x="9022080" y="0"/>
                  </a:lnTo>
                  <a:lnTo>
                    <a:pt x="90220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20" b="-3792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9022080" cy="2104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NLP-powered analysis of conversation tone and emotional patterns to surface hidden tension early.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08157" y="4013197"/>
            <a:ext cx="8432797" cy="2672077"/>
            <a:chOff x="0" y="0"/>
            <a:chExt cx="11243729" cy="3562769"/>
          </a:xfrm>
        </p:grpSpPr>
        <p:sp>
          <p:nvSpPr>
            <p:cNvPr id="37" name="Freeform 37"/>
            <p:cNvSpPr/>
            <p:nvPr/>
          </p:nvSpPr>
          <p:spPr>
            <a:xfrm>
              <a:off x="13589" y="13589"/>
              <a:ext cx="11216640" cy="3535680"/>
            </a:xfrm>
            <a:custGeom>
              <a:avLst/>
              <a:gdLst/>
              <a:ahLst/>
              <a:cxnLst/>
              <a:rect l="l" t="t" r="r" b="b"/>
              <a:pathLst>
                <a:path w="11216640" h="3535680">
                  <a:moveTo>
                    <a:pt x="0" y="0"/>
                  </a:moveTo>
                  <a:lnTo>
                    <a:pt x="11216640" y="0"/>
                  </a:lnTo>
                  <a:lnTo>
                    <a:pt x="11216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1243818" cy="3562858"/>
            </a:xfrm>
            <a:custGeom>
              <a:avLst/>
              <a:gdLst/>
              <a:ahLst/>
              <a:cxnLst/>
              <a:rect l="l" t="t" r="r" b="b"/>
              <a:pathLst>
                <a:path w="11243818" h="356285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3549269"/>
                  </a:lnTo>
                  <a:cubicBezTo>
                    <a:pt x="11243818" y="3556762"/>
                    <a:pt x="11237722" y="3562858"/>
                    <a:pt x="11230229" y="3562858"/>
                  </a:cubicBezTo>
                  <a:lnTo>
                    <a:pt x="13589" y="3562858"/>
                  </a:lnTo>
                  <a:cubicBezTo>
                    <a:pt x="6096" y="3562858"/>
                    <a:pt x="0" y="3556762"/>
                    <a:pt x="0" y="35492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549269"/>
                  </a:lnTo>
                  <a:lnTo>
                    <a:pt x="13589" y="3549269"/>
                  </a:lnTo>
                  <a:lnTo>
                    <a:pt x="13589" y="3535680"/>
                  </a:lnTo>
                  <a:lnTo>
                    <a:pt x="11230229" y="3535680"/>
                  </a:lnTo>
                  <a:lnTo>
                    <a:pt x="11230229" y="3549269"/>
                  </a:lnTo>
                  <a:lnTo>
                    <a:pt x="11216640" y="3549269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734807" y="4870199"/>
            <a:ext cx="903227" cy="903227"/>
            <a:chOff x="0" y="0"/>
            <a:chExt cx="1204303" cy="1204303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747504" y="4882896"/>
            <a:ext cx="877824" cy="877824"/>
            <a:chOff x="0" y="0"/>
            <a:chExt cx="1170432" cy="1170432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747504" y="4169664"/>
            <a:ext cx="7680960" cy="676656"/>
            <a:chOff x="0" y="0"/>
            <a:chExt cx="10241280" cy="90220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41280" cy="902208"/>
            </a:xfrm>
            <a:custGeom>
              <a:avLst/>
              <a:gdLst/>
              <a:ahLst/>
              <a:cxnLst/>
              <a:rect l="l" t="t" r="r" b="b"/>
              <a:pathLst>
                <a:path w="10241280" h="902208">
                  <a:moveTo>
                    <a:pt x="0" y="0"/>
                  </a:moveTo>
                  <a:lnTo>
                    <a:pt x="10241280" y="0"/>
                  </a:lnTo>
                  <a:lnTo>
                    <a:pt x="10241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181" b="-17118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24128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Conflict Resolution Tools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844784" y="4937760"/>
            <a:ext cx="6766560" cy="1499616"/>
            <a:chOff x="0" y="0"/>
            <a:chExt cx="9022080" cy="19994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022080" cy="1999488"/>
            </a:xfrm>
            <a:custGeom>
              <a:avLst/>
              <a:gdLst/>
              <a:ahLst/>
              <a:cxnLst/>
              <a:rect l="l" t="t" r="r" b="b"/>
              <a:pathLst>
                <a:path w="9022080" h="1999488">
                  <a:moveTo>
                    <a:pt x="0" y="0"/>
                  </a:moveTo>
                  <a:lnTo>
                    <a:pt x="9022080" y="0"/>
                  </a:lnTo>
                  <a:lnTo>
                    <a:pt x="90220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20" b="-3792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04775"/>
              <a:ext cx="9022080" cy="2104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Step-by-step guided conversations using proven Gottman &amp; NVC frameworks.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8477" y="6939277"/>
            <a:ext cx="8432797" cy="2672077"/>
            <a:chOff x="0" y="0"/>
            <a:chExt cx="11243729" cy="3562769"/>
          </a:xfrm>
        </p:grpSpPr>
        <p:sp>
          <p:nvSpPr>
            <p:cNvPr id="51" name="Freeform 51"/>
            <p:cNvSpPr/>
            <p:nvPr/>
          </p:nvSpPr>
          <p:spPr>
            <a:xfrm>
              <a:off x="13589" y="13589"/>
              <a:ext cx="11216640" cy="3535680"/>
            </a:xfrm>
            <a:custGeom>
              <a:avLst/>
              <a:gdLst/>
              <a:ahLst/>
              <a:cxnLst/>
              <a:rect l="l" t="t" r="r" b="b"/>
              <a:pathLst>
                <a:path w="11216640" h="3535680">
                  <a:moveTo>
                    <a:pt x="0" y="0"/>
                  </a:moveTo>
                  <a:lnTo>
                    <a:pt x="11216640" y="0"/>
                  </a:lnTo>
                  <a:lnTo>
                    <a:pt x="11216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1243818" cy="3562858"/>
            </a:xfrm>
            <a:custGeom>
              <a:avLst/>
              <a:gdLst/>
              <a:ahLst/>
              <a:cxnLst/>
              <a:rect l="l" t="t" r="r" b="b"/>
              <a:pathLst>
                <a:path w="11243818" h="356285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3549269"/>
                  </a:lnTo>
                  <a:cubicBezTo>
                    <a:pt x="11243818" y="3556762"/>
                    <a:pt x="11237722" y="3562858"/>
                    <a:pt x="11230229" y="3562858"/>
                  </a:cubicBezTo>
                  <a:lnTo>
                    <a:pt x="13589" y="3562858"/>
                  </a:lnTo>
                  <a:cubicBezTo>
                    <a:pt x="6096" y="3562858"/>
                    <a:pt x="0" y="3556762"/>
                    <a:pt x="0" y="35492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549269"/>
                  </a:lnTo>
                  <a:lnTo>
                    <a:pt x="13589" y="3549269"/>
                  </a:lnTo>
                  <a:lnTo>
                    <a:pt x="13589" y="3535680"/>
                  </a:lnTo>
                  <a:lnTo>
                    <a:pt x="11230229" y="3535680"/>
                  </a:lnTo>
                  <a:lnTo>
                    <a:pt x="11230229" y="3549269"/>
                  </a:lnTo>
                  <a:lnTo>
                    <a:pt x="11216640" y="3549269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65127" y="7796279"/>
            <a:ext cx="903227" cy="903227"/>
            <a:chOff x="0" y="0"/>
            <a:chExt cx="1204303" cy="1204303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877824" y="7808976"/>
            <a:ext cx="877824" cy="877824"/>
            <a:chOff x="0" y="0"/>
            <a:chExt cx="1170432" cy="1170432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877824" y="7095744"/>
            <a:ext cx="7680960" cy="676656"/>
            <a:chOff x="0" y="0"/>
            <a:chExt cx="10241280" cy="9022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241280" cy="902208"/>
            </a:xfrm>
            <a:custGeom>
              <a:avLst/>
              <a:gdLst/>
              <a:ahLst/>
              <a:cxnLst/>
              <a:rect l="l" t="t" r="r" b="b"/>
              <a:pathLst>
                <a:path w="10241280" h="902208">
                  <a:moveTo>
                    <a:pt x="0" y="0"/>
                  </a:moveTo>
                  <a:lnTo>
                    <a:pt x="10241280" y="0"/>
                  </a:lnTo>
                  <a:lnTo>
                    <a:pt x="10241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181" b="-17118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024128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Space Sessions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975104" y="7863840"/>
            <a:ext cx="6766560" cy="1499616"/>
            <a:chOff x="0" y="0"/>
            <a:chExt cx="9022080" cy="199948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022080" cy="1999488"/>
            </a:xfrm>
            <a:custGeom>
              <a:avLst/>
              <a:gdLst/>
              <a:ahLst/>
              <a:cxnLst/>
              <a:rect l="l" t="t" r="r" b="b"/>
              <a:pathLst>
                <a:path w="9022080" h="1999488">
                  <a:moveTo>
                    <a:pt x="0" y="0"/>
                  </a:moveTo>
                  <a:lnTo>
                    <a:pt x="9022080" y="0"/>
                  </a:lnTo>
                  <a:lnTo>
                    <a:pt x="90220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20" b="-3792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04775"/>
              <a:ext cx="9022080" cy="2104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Private, anonymous sessions where both partners can express freely without judgment.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408157" y="6939277"/>
            <a:ext cx="8432797" cy="2672077"/>
            <a:chOff x="0" y="0"/>
            <a:chExt cx="11243729" cy="3562769"/>
          </a:xfrm>
        </p:grpSpPr>
        <p:sp>
          <p:nvSpPr>
            <p:cNvPr id="65" name="Freeform 65"/>
            <p:cNvSpPr/>
            <p:nvPr/>
          </p:nvSpPr>
          <p:spPr>
            <a:xfrm>
              <a:off x="13589" y="13589"/>
              <a:ext cx="11216640" cy="3535680"/>
            </a:xfrm>
            <a:custGeom>
              <a:avLst/>
              <a:gdLst/>
              <a:ahLst/>
              <a:cxnLst/>
              <a:rect l="l" t="t" r="r" b="b"/>
              <a:pathLst>
                <a:path w="11216640" h="3535680">
                  <a:moveTo>
                    <a:pt x="0" y="0"/>
                  </a:moveTo>
                  <a:lnTo>
                    <a:pt x="11216640" y="0"/>
                  </a:lnTo>
                  <a:lnTo>
                    <a:pt x="1121664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11243818" cy="3562858"/>
            </a:xfrm>
            <a:custGeom>
              <a:avLst/>
              <a:gdLst/>
              <a:ahLst/>
              <a:cxnLst/>
              <a:rect l="l" t="t" r="r" b="b"/>
              <a:pathLst>
                <a:path w="11243818" h="3562858">
                  <a:moveTo>
                    <a:pt x="13589" y="0"/>
                  </a:moveTo>
                  <a:lnTo>
                    <a:pt x="11230229" y="0"/>
                  </a:lnTo>
                  <a:cubicBezTo>
                    <a:pt x="11237722" y="0"/>
                    <a:pt x="11243818" y="6096"/>
                    <a:pt x="11243818" y="13589"/>
                  </a:cubicBezTo>
                  <a:lnTo>
                    <a:pt x="11243818" y="3549269"/>
                  </a:lnTo>
                  <a:cubicBezTo>
                    <a:pt x="11243818" y="3556762"/>
                    <a:pt x="11237722" y="3562858"/>
                    <a:pt x="11230229" y="3562858"/>
                  </a:cubicBezTo>
                  <a:lnTo>
                    <a:pt x="13589" y="3562858"/>
                  </a:lnTo>
                  <a:cubicBezTo>
                    <a:pt x="6096" y="3562858"/>
                    <a:pt x="0" y="3556762"/>
                    <a:pt x="0" y="35492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549269"/>
                  </a:lnTo>
                  <a:lnTo>
                    <a:pt x="13589" y="3549269"/>
                  </a:lnTo>
                  <a:lnTo>
                    <a:pt x="13589" y="3535680"/>
                  </a:lnTo>
                  <a:lnTo>
                    <a:pt x="11230229" y="3535680"/>
                  </a:lnTo>
                  <a:lnTo>
                    <a:pt x="11230229" y="3549269"/>
                  </a:lnTo>
                  <a:lnTo>
                    <a:pt x="11216640" y="3549269"/>
                  </a:lnTo>
                  <a:lnTo>
                    <a:pt x="11216640" y="13589"/>
                  </a:lnTo>
                  <a:lnTo>
                    <a:pt x="11230229" y="13589"/>
                  </a:lnTo>
                  <a:lnTo>
                    <a:pt x="11230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734807" y="7796279"/>
            <a:ext cx="903227" cy="903227"/>
            <a:chOff x="0" y="0"/>
            <a:chExt cx="1204303" cy="1204303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9747504" y="7808976"/>
            <a:ext cx="877824" cy="877824"/>
            <a:chOff x="0" y="0"/>
            <a:chExt cx="1170432" cy="1170432"/>
          </a:xfrm>
        </p:grpSpPr>
        <p:sp>
          <p:nvSpPr>
            <p:cNvPr id="71" name="Freeform 71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9747504" y="7095744"/>
            <a:ext cx="7680960" cy="676656"/>
            <a:chOff x="0" y="0"/>
            <a:chExt cx="10241280" cy="9022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241280" cy="902208"/>
            </a:xfrm>
            <a:custGeom>
              <a:avLst/>
              <a:gdLst/>
              <a:ahLst/>
              <a:cxnLst/>
              <a:rect l="l" t="t" r="r" b="b"/>
              <a:pathLst>
                <a:path w="10241280" h="902208">
                  <a:moveTo>
                    <a:pt x="0" y="0"/>
                  </a:moveTo>
                  <a:lnTo>
                    <a:pt x="10241280" y="0"/>
                  </a:lnTo>
                  <a:lnTo>
                    <a:pt x="10241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181" b="-17118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024128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Early Warning System ⚠️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844784" y="7863840"/>
            <a:ext cx="6766560" cy="1499616"/>
            <a:chOff x="0" y="0"/>
            <a:chExt cx="9022080" cy="199948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022080" cy="1999488"/>
            </a:xfrm>
            <a:custGeom>
              <a:avLst/>
              <a:gdLst/>
              <a:ahLst/>
              <a:cxnLst/>
              <a:rect l="l" t="t" r="r" b="b"/>
              <a:pathLst>
                <a:path w="9022080" h="1999488">
                  <a:moveTo>
                    <a:pt x="0" y="0"/>
                  </a:moveTo>
                  <a:lnTo>
                    <a:pt x="9022080" y="0"/>
                  </a:lnTo>
                  <a:lnTo>
                    <a:pt x="90220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20" b="-3792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04775"/>
              <a:ext cx="9022080" cy="2104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Proactive alerts when relationship health dips — like a smoke detector, but for love.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18823" y="316487"/>
            <a:ext cx="135131" cy="1086107"/>
            <a:chOff x="0" y="0"/>
            <a:chExt cx="180175" cy="144814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329184"/>
            <a:ext cx="16459200" cy="1060704"/>
            <a:chOff x="0" y="0"/>
            <a:chExt cx="21945600" cy="14142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414272"/>
            </a:xfrm>
            <a:custGeom>
              <a:avLst/>
              <a:gdLst/>
              <a:ahLst/>
              <a:cxnLst/>
              <a:rect l="l" t="t" r="r" b="b"/>
              <a:pathLst>
                <a:path w="21945600" h="1414272">
                  <a:moveTo>
                    <a:pt x="0" y="0"/>
                  </a:moveTo>
                  <a:lnTo>
                    <a:pt x="21945600" y="0"/>
                  </a:lnTo>
                  <a:lnTo>
                    <a:pt x="219456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354" b="-25235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1945600" cy="1414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A054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Features → Impact → Transformation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1426464"/>
            <a:ext cx="9144000" cy="512064"/>
            <a:chOff x="0" y="0"/>
            <a:chExt cx="121920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0" cy="682752"/>
            </a:xfrm>
            <a:custGeom>
              <a:avLst/>
              <a:gdLst/>
              <a:ahLst/>
              <a:cxnLst/>
              <a:rect l="l" t="t" r="r" b="b"/>
              <a:pathLst>
                <a:path w="12192000" h="682752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199">
                  <a:solidFill>
                    <a:srgbClr val="9B51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 Framework  +  Revenue Model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090423"/>
            <a:ext cx="5146043" cy="756923"/>
            <a:chOff x="0" y="0"/>
            <a:chExt cx="6861391" cy="100923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861301" cy="1009144"/>
            </a:xfrm>
            <a:custGeom>
              <a:avLst/>
              <a:gdLst/>
              <a:ahLst/>
              <a:cxnLst/>
              <a:rect l="l" t="t" r="r" b="b"/>
              <a:pathLst>
                <a:path w="6861301" h="1009144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48640" y="2103120"/>
            <a:ext cx="5120640" cy="731520"/>
            <a:chOff x="0" y="0"/>
            <a:chExt cx="6827520" cy="9753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13783" y="2090423"/>
            <a:ext cx="5146043" cy="756923"/>
            <a:chOff x="0" y="0"/>
            <a:chExt cx="6861391" cy="100923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6861301" cy="1009144"/>
            </a:xfrm>
            <a:custGeom>
              <a:avLst/>
              <a:gdLst/>
              <a:ahLst/>
              <a:cxnLst/>
              <a:rect l="l" t="t" r="r" b="b"/>
              <a:pathLst>
                <a:path w="6861301" h="1009144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126480" y="2103120"/>
            <a:ext cx="5120640" cy="731520"/>
            <a:chOff x="0" y="0"/>
            <a:chExt cx="682752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91623" y="2090423"/>
            <a:ext cx="5146043" cy="756923"/>
            <a:chOff x="0" y="0"/>
            <a:chExt cx="6861391" cy="100923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6861301" cy="1009144"/>
            </a:xfrm>
            <a:custGeom>
              <a:avLst/>
              <a:gdLst/>
              <a:ahLst/>
              <a:cxnLst/>
              <a:rect l="l" t="t" r="r" b="b"/>
              <a:pathLst>
                <a:path w="6861301" h="1009144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1704320" y="2103120"/>
            <a:ext cx="5120640" cy="731520"/>
            <a:chOff x="0" y="0"/>
            <a:chExt cx="6827520" cy="9753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27520" cy="975360"/>
            </a:xfrm>
            <a:custGeom>
              <a:avLst/>
              <a:gdLst/>
              <a:ahLst/>
              <a:cxnLst/>
              <a:rect l="l" t="t" r="r" b="b"/>
              <a:pathLst>
                <a:path w="6827520" h="97536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42287" y="2828287"/>
            <a:ext cx="5133337" cy="927097"/>
            <a:chOff x="0" y="0"/>
            <a:chExt cx="6844449" cy="1236129"/>
          </a:xfrm>
        </p:grpSpPr>
        <p:sp>
          <p:nvSpPr>
            <p:cNvPr id="33" name="Freeform 33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48640" y="2834640"/>
            <a:ext cx="5120640" cy="914400"/>
            <a:chOff x="0" y="0"/>
            <a:chExt cx="682752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0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Check-ins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20127" y="2828287"/>
            <a:ext cx="5133337" cy="927097"/>
            <a:chOff x="0" y="0"/>
            <a:chExt cx="6844449" cy="1236129"/>
          </a:xfrm>
        </p:grpSpPr>
        <p:sp>
          <p:nvSpPr>
            <p:cNvPr id="39" name="Freeform 39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126480" y="2834640"/>
            <a:ext cx="5120640" cy="914400"/>
            <a:chOff x="0" y="0"/>
            <a:chExt cx="682752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1A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Builds Awareness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697967" y="2828287"/>
            <a:ext cx="5133337" cy="927097"/>
            <a:chOff x="0" y="0"/>
            <a:chExt cx="6844449" cy="1236129"/>
          </a:xfrm>
        </p:grpSpPr>
        <p:sp>
          <p:nvSpPr>
            <p:cNvPr id="45" name="Freeform 45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704320" y="2834640"/>
            <a:ext cx="5120640" cy="914400"/>
            <a:chOff x="0" y="0"/>
            <a:chExt cx="682752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Communication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2287" y="3779263"/>
            <a:ext cx="5133337" cy="927097"/>
            <a:chOff x="0" y="0"/>
            <a:chExt cx="6844449" cy="1236129"/>
          </a:xfrm>
        </p:grpSpPr>
        <p:sp>
          <p:nvSpPr>
            <p:cNvPr id="51" name="Freeform 51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548640" y="3785616"/>
            <a:ext cx="5120640" cy="914400"/>
            <a:chOff x="0" y="0"/>
            <a:chExt cx="6827520" cy="1219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0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Suggestions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20127" y="3779263"/>
            <a:ext cx="5133337" cy="927097"/>
            <a:chOff x="0" y="0"/>
            <a:chExt cx="6844449" cy="1236129"/>
          </a:xfrm>
        </p:grpSpPr>
        <p:sp>
          <p:nvSpPr>
            <p:cNvPr id="57" name="Freeform 57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6126480" y="3785616"/>
            <a:ext cx="5120640" cy="914400"/>
            <a:chOff x="0" y="0"/>
            <a:chExt cx="6827520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1A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Guided Action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97967" y="3779263"/>
            <a:ext cx="5133337" cy="927097"/>
            <a:chOff x="0" y="0"/>
            <a:chExt cx="6844449" cy="1236129"/>
          </a:xfrm>
        </p:grpSpPr>
        <p:sp>
          <p:nvSpPr>
            <p:cNvPr id="63" name="Freeform 63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1704320" y="3785616"/>
            <a:ext cx="5120640" cy="914400"/>
            <a:chOff x="0" y="0"/>
            <a:chExt cx="6827520" cy="1219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Less Conflicts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42287" y="4730239"/>
            <a:ext cx="5133337" cy="927097"/>
            <a:chOff x="0" y="0"/>
            <a:chExt cx="6844449" cy="1236129"/>
          </a:xfrm>
        </p:grpSpPr>
        <p:sp>
          <p:nvSpPr>
            <p:cNvPr id="69" name="Freeform 69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48640" y="4736592"/>
            <a:ext cx="5120640" cy="914400"/>
            <a:chOff x="0" y="0"/>
            <a:chExt cx="6827520" cy="12192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0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 Sessions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120127" y="4730239"/>
            <a:ext cx="5133337" cy="927097"/>
            <a:chOff x="0" y="0"/>
            <a:chExt cx="6844449" cy="1236129"/>
          </a:xfrm>
        </p:grpSpPr>
        <p:sp>
          <p:nvSpPr>
            <p:cNvPr id="75" name="Freeform 75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6126480" y="4736592"/>
            <a:ext cx="5120640" cy="914400"/>
            <a:chOff x="0" y="0"/>
            <a:chExt cx="6827520" cy="1219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1A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Creates Comfort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697967" y="4730239"/>
            <a:ext cx="5133337" cy="927097"/>
            <a:chOff x="0" y="0"/>
            <a:chExt cx="6844449" cy="1236129"/>
          </a:xfrm>
        </p:grpSpPr>
        <p:sp>
          <p:nvSpPr>
            <p:cNvPr id="81" name="Freeform 81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4FF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1704320" y="4736592"/>
            <a:ext cx="5120640" cy="914400"/>
            <a:chOff x="0" y="0"/>
            <a:chExt cx="6827520" cy="12192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Stronger Bonding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42287" y="5681215"/>
            <a:ext cx="5133337" cy="927097"/>
            <a:chOff x="0" y="0"/>
            <a:chExt cx="6844449" cy="1236129"/>
          </a:xfrm>
        </p:grpSpPr>
        <p:sp>
          <p:nvSpPr>
            <p:cNvPr id="87" name="Freeform 87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548640" y="5687568"/>
            <a:ext cx="5120640" cy="914400"/>
            <a:chOff x="0" y="0"/>
            <a:chExt cx="6827520" cy="1219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0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Warning Alert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120127" y="5681215"/>
            <a:ext cx="5133337" cy="927097"/>
            <a:chOff x="0" y="0"/>
            <a:chExt cx="6844449" cy="1236129"/>
          </a:xfrm>
        </p:grpSpPr>
        <p:sp>
          <p:nvSpPr>
            <p:cNvPr id="93" name="Freeform 93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6126480" y="5687568"/>
            <a:ext cx="5120640" cy="914400"/>
            <a:chOff x="0" y="0"/>
            <a:chExt cx="6827520" cy="12192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1A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Triggers Reflection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1697967" y="5681215"/>
            <a:ext cx="5133337" cy="927097"/>
            <a:chOff x="0" y="0"/>
            <a:chExt cx="6844449" cy="1236129"/>
          </a:xfrm>
        </p:grpSpPr>
        <p:sp>
          <p:nvSpPr>
            <p:cNvPr id="99" name="Freeform 99"/>
            <p:cNvSpPr/>
            <p:nvPr/>
          </p:nvSpPr>
          <p:spPr>
            <a:xfrm>
              <a:off x="8509" y="8509"/>
              <a:ext cx="6827519" cy="1219200"/>
            </a:xfrm>
            <a:custGeom>
              <a:avLst/>
              <a:gdLst/>
              <a:ahLst/>
              <a:cxnLst/>
              <a:rect l="l" t="t" r="r" b="b"/>
              <a:pathLst>
                <a:path w="6827519" h="1219200">
                  <a:moveTo>
                    <a:pt x="0" y="0"/>
                  </a:moveTo>
                  <a:lnTo>
                    <a:pt x="6827519" y="0"/>
                  </a:lnTo>
                  <a:lnTo>
                    <a:pt x="68275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AFF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6844538" cy="1236218"/>
            </a:xfrm>
            <a:custGeom>
              <a:avLst/>
              <a:gdLst/>
              <a:ahLst/>
              <a:cxnLst/>
              <a:rect l="l" t="t" r="r" b="b"/>
              <a:pathLst>
                <a:path w="6844538" h="123621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227709"/>
                  </a:lnTo>
                  <a:cubicBezTo>
                    <a:pt x="6844538" y="1232408"/>
                    <a:pt x="6840727" y="1236218"/>
                    <a:pt x="6836028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6836028" y="1219200"/>
                  </a:lnTo>
                  <a:lnTo>
                    <a:pt x="6836028" y="1227709"/>
                  </a:lnTo>
                  <a:lnTo>
                    <a:pt x="6827520" y="12277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9EF5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1704320" y="5687568"/>
            <a:ext cx="5120640" cy="914400"/>
            <a:chOff x="0" y="0"/>
            <a:chExt cx="6827520" cy="12192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0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Prevents Breakup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35943" y="6753863"/>
            <a:ext cx="5694683" cy="3042923"/>
            <a:chOff x="0" y="0"/>
            <a:chExt cx="7592911" cy="4057231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7559040" cy="4023360"/>
            </a:xfrm>
            <a:custGeom>
              <a:avLst/>
              <a:gdLst/>
              <a:ahLst/>
              <a:cxnLst/>
              <a:rect l="l" t="t" r="r" b="b"/>
              <a:pathLst>
                <a:path w="7559040" h="4023360">
                  <a:moveTo>
                    <a:pt x="0" y="0"/>
                  </a:moveTo>
                  <a:lnTo>
                    <a:pt x="7559040" y="0"/>
                  </a:lnTo>
                  <a:lnTo>
                    <a:pt x="75590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7592822" cy="4057142"/>
            </a:xfrm>
            <a:custGeom>
              <a:avLst/>
              <a:gdLst/>
              <a:ahLst/>
              <a:cxnLst/>
              <a:rect l="l" t="t" r="r" b="b"/>
              <a:pathLst>
                <a:path w="7592822" h="405714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040251"/>
                  </a:lnTo>
                  <a:cubicBezTo>
                    <a:pt x="7592822" y="4049649"/>
                    <a:pt x="7585202" y="4057142"/>
                    <a:pt x="75759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575931" y="4023360"/>
                  </a:lnTo>
                  <a:lnTo>
                    <a:pt x="7575931" y="4040251"/>
                  </a:lnTo>
                  <a:lnTo>
                    <a:pt x="7559040" y="40402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535943" y="6753863"/>
            <a:ext cx="5694683" cy="720347"/>
            <a:chOff x="0" y="0"/>
            <a:chExt cx="7592911" cy="960463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109" name="Freeform 109"/>
            <p:cNvSpPr/>
            <p:nvPr/>
          </p:nvSpPr>
          <p:spPr>
            <a:xfrm>
              <a:off x="0" y="0"/>
              <a:ext cx="7592822" cy="960376"/>
            </a:xfrm>
            <a:custGeom>
              <a:avLst/>
              <a:gdLst/>
              <a:ahLst/>
              <a:cxnLst/>
              <a:rect l="l" t="t" r="r" b="b"/>
              <a:pathLst>
                <a:path w="7592822" h="960376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10" name="Group 110"/>
          <p:cNvGrpSpPr/>
          <p:nvPr/>
        </p:nvGrpSpPr>
        <p:grpSpPr>
          <a:xfrm>
            <a:off x="548640" y="6766560"/>
            <a:ext cx="5669280" cy="694944"/>
            <a:chOff x="0" y="0"/>
            <a:chExt cx="7559040" cy="92659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56" b="-108956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47625"/>
              <a:ext cx="7559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Revenue Streams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68096" y="7534656"/>
            <a:ext cx="5212080" cy="2157984"/>
            <a:chOff x="0" y="0"/>
            <a:chExt cx="6949440" cy="2877312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6949440" cy="2877312"/>
            </a:xfrm>
            <a:custGeom>
              <a:avLst/>
              <a:gdLst/>
              <a:ahLst/>
              <a:cxnLst/>
              <a:rect l="l" t="t" r="r" b="b"/>
              <a:pathLst>
                <a:path w="6949440" h="2877312">
                  <a:moveTo>
                    <a:pt x="0" y="0"/>
                  </a:moveTo>
                  <a:lnTo>
                    <a:pt x="6949440" y="0"/>
                  </a:lnTo>
                  <a:lnTo>
                    <a:pt x="694944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2" r="-3122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6949440" cy="29154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₹99–₹299/mo Subscriptions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1-on-1 Expert Sessions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Workshops &amp; Webinars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B2B Corporate Packages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296663" y="6753863"/>
            <a:ext cx="5694683" cy="3042923"/>
            <a:chOff x="0" y="0"/>
            <a:chExt cx="7592911" cy="4057231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7559040" cy="4023360"/>
            </a:xfrm>
            <a:custGeom>
              <a:avLst/>
              <a:gdLst/>
              <a:ahLst/>
              <a:cxnLst/>
              <a:rect l="l" t="t" r="r" b="b"/>
              <a:pathLst>
                <a:path w="7559040" h="4023360">
                  <a:moveTo>
                    <a:pt x="0" y="0"/>
                  </a:moveTo>
                  <a:lnTo>
                    <a:pt x="7559040" y="0"/>
                  </a:lnTo>
                  <a:lnTo>
                    <a:pt x="75590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7592822" cy="4057142"/>
            </a:xfrm>
            <a:custGeom>
              <a:avLst/>
              <a:gdLst/>
              <a:ahLst/>
              <a:cxnLst/>
              <a:rect l="l" t="t" r="r" b="b"/>
              <a:pathLst>
                <a:path w="7592822" h="405714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040251"/>
                  </a:lnTo>
                  <a:cubicBezTo>
                    <a:pt x="7592822" y="4049649"/>
                    <a:pt x="7585202" y="4057142"/>
                    <a:pt x="75759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575931" y="4023360"/>
                  </a:lnTo>
                  <a:lnTo>
                    <a:pt x="7575931" y="4040251"/>
                  </a:lnTo>
                  <a:lnTo>
                    <a:pt x="7559040" y="40402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6296663" y="6753863"/>
            <a:ext cx="5694683" cy="720347"/>
            <a:chOff x="0" y="0"/>
            <a:chExt cx="7592911" cy="960463"/>
          </a:xfrm>
        </p:grpSpPr>
        <p:sp>
          <p:nvSpPr>
            <p:cNvPr id="120" name="Freeform 120"/>
            <p:cNvSpPr/>
            <p:nvPr/>
          </p:nvSpPr>
          <p:spPr>
            <a:xfrm>
              <a:off x="16891" y="16891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21" name="Freeform 121"/>
            <p:cNvSpPr/>
            <p:nvPr/>
          </p:nvSpPr>
          <p:spPr>
            <a:xfrm>
              <a:off x="0" y="0"/>
              <a:ext cx="7592822" cy="960376"/>
            </a:xfrm>
            <a:custGeom>
              <a:avLst/>
              <a:gdLst/>
              <a:ahLst/>
              <a:cxnLst/>
              <a:rect l="l" t="t" r="r" b="b"/>
              <a:pathLst>
                <a:path w="7592822" h="960376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22" name="Group 122"/>
          <p:cNvGrpSpPr/>
          <p:nvPr/>
        </p:nvGrpSpPr>
        <p:grpSpPr>
          <a:xfrm>
            <a:off x="6309360" y="6766560"/>
            <a:ext cx="5669280" cy="694944"/>
            <a:chOff x="0" y="0"/>
            <a:chExt cx="7559040" cy="92659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56" b="-108956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47625"/>
              <a:ext cx="7559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⬆ Up-Selling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528816" y="7534656"/>
            <a:ext cx="5212080" cy="2157984"/>
            <a:chOff x="0" y="0"/>
            <a:chExt cx="6949440" cy="2877312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6949440" cy="2877312"/>
            </a:xfrm>
            <a:custGeom>
              <a:avLst/>
              <a:gdLst/>
              <a:ahLst/>
              <a:cxnLst/>
              <a:rect l="l" t="t" r="r" b="b"/>
              <a:pathLst>
                <a:path w="6949440" h="2877312">
                  <a:moveTo>
                    <a:pt x="0" y="0"/>
                  </a:moveTo>
                  <a:lnTo>
                    <a:pt x="6949440" y="0"/>
                  </a:lnTo>
                  <a:lnTo>
                    <a:pt x="694944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2" r="-3122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6949440" cy="29154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Premium AI Analysis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Therapist Access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Unlimited Safe Sessions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Priority Support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2057383" y="6753863"/>
            <a:ext cx="5694683" cy="3042923"/>
            <a:chOff x="0" y="0"/>
            <a:chExt cx="7592911" cy="4057231"/>
          </a:xfrm>
        </p:grpSpPr>
        <p:sp>
          <p:nvSpPr>
            <p:cNvPr id="129" name="Freeform 129"/>
            <p:cNvSpPr/>
            <p:nvPr/>
          </p:nvSpPr>
          <p:spPr>
            <a:xfrm>
              <a:off x="16891" y="16891"/>
              <a:ext cx="7559040" cy="4023360"/>
            </a:xfrm>
            <a:custGeom>
              <a:avLst/>
              <a:gdLst/>
              <a:ahLst/>
              <a:cxnLst/>
              <a:rect l="l" t="t" r="r" b="b"/>
              <a:pathLst>
                <a:path w="7559040" h="4023360">
                  <a:moveTo>
                    <a:pt x="0" y="0"/>
                  </a:moveTo>
                  <a:lnTo>
                    <a:pt x="7559040" y="0"/>
                  </a:lnTo>
                  <a:lnTo>
                    <a:pt x="75590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0" name="Freeform 130"/>
            <p:cNvSpPr/>
            <p:nvPr/>
          </p:nvSpPr>
          <p:spPr>
            <a:xfrm>
              <a:off x="0" y="0"/>
              <a:ext cx="7592822" cy="4057142"/>
            </a:xfrm>
            <a:custGeom>
              <a:avLst/>
              <a:gdLst/>
              <a:ahLst/>
              <a:cxnLst/>
              <a:rect l="l" t="t" r="r" b="b"/>
              <a:pathLst>
                <a:path w="7592822" h="405714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040251"/>
                  </a:lnTo>
                  <a:cubicBezTo>
                    <a:pt x="7592822" y="4049649"/>
                    <a:pt x="7585202" y="4057142"/>
                    <a:pt x="757593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575931" y="4023360"/>
                  </a:lnTo>
                  <a:lnTo>
                    <a:pt x="7575931" y="4040251"/>
                  </a:lnTo>
                  <a:lnTo>
                    <a:pt x="7559040" y="40402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2057383" y="6753863"/>
            <a:ext cx="5694683" cy="720347"/>
            <a:chOff x="0" y="0"/>
            <a:chExt cx="7592911" cy="960463"/>
          </a:xfrm>
        </p:grpSpPr>
        <p:sp>
          <p:nvSpPr>
            <p:cNvPr id="132" name="Freeform 132"/>
            <p:cNvSpPr/>
            <p:nvPr/>
          </p:nvSpPr>
          <p:spPr>
            <a:xfrm>
              <a:off x="16891" y="16891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133" name="Freeform 133"/>
            <p:cNvSpPr/>
            <p:nvPr/>
          </p:nvSpPr>
          <p:spPr>
            <a:xfrm>
              <a:off x="0" y="0"/>
              <a:ext cx="7592822" cy="960376"/>
            </a:xfrm>
            <a:custGeom>
              <a:avLst/>
              <a:gdLst/>
              <a:ahLst/>
              <a:cxnLst/>
              <a:rect l="l" t="t" r="r" b="b"/>
              <a:pathLst>
                <a:path w="7592822" h="960376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134" name="Group 134"/>
          <p:cNvGrpSpPr/>
          <p:nvPr/>
        </p:nvGrpSpPr>
        <p:grpSpPr>
          <a:xfrm>
            <a:off x="12070080" y="6766560"/>
            <a:ext cx="5669280" cy="694944"/>
            <a:chOff x="0" y="0"/>
            <a:chExt cx="7559040" cy="926592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7559040" cy="926592"/>
            </a:xfrm>
            <a:custGeom>
              <a:avLst/>
              <a:gdLst/>
              <a:ahLst/>
              <a:cxnLst/>
              <a:rect l="l" t="t" r="r" b="b"/>
              <a:pathLst>
                <a:path w="7559040" h="926592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56" b="-108956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47625"/>
              <a:ext cx="7559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↔ Cross-Selling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2289536" y="7534656"/>
            <a:ext cx="5212080" cy="2157984"/>
            <a:chOff x="0" y="0"/>
            <a:chExt cx="6949440" cy="2877312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6949440" cy="2877312"/>
            </a:xfrm>
            <a:custGeom>
              <a:avLst/>
              <a:gdLst/>
              <a:ahLst/>
              <a:cxnLst/>
              <a:rect l="l" t="t" r="r" b="b"/>
              <a:pathLst>
                <a:path w="6949440" h="2877312">
                  <a:moveTo>
                    <a:pt x="0" y="0"/>
                  </a:moveTo>
                  <a:lnTo>
                    <a:pt x="6949440" y="0"/>
                  </a:lnTo>
                  <a:lnTo>
                    <a:pt x="694944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2" r="-3122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38100"/>
              <a:ext cx="6949440" cy="29154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 Courses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Couple Challenges (gamified)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Guides &amp; eBooks</a:t>
              </a:r>
            </a:p>
            <a:p>
              <a:pPr marL="458470" lvl="1" indent="-229235" algn="l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Referral to Legal Advisors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18823" y="353063"/>
            <a:ext cx="135131" cy="1122683"/>
            <a:chOff x="0" y="0"/>
            <a:chExt cx="180175" cy="149691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463040"/>
            </a:xfrm>
            <a:custGeom>
              <a:avLst/>
              <a:gdLst/>
              <a:ahLst/>
              <a:cxnLst/>
              <a:rect l="l" t="t" r="r" b="b"/>
              <a:pathLst>
                <a:path w="146304" h="1463040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496822"/>
            </a:xfrm>
            <a:custGeom>
              <a:avLst/>
              <a:gdLst/>
              <a:ahLst/>
              <a:cxnLst/>
              <a:rect l="l" t="t" r="r" b="b"/>
              <a:pathLst>
                <a:path w="180086" h="14968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365760"/>
            <a:ext cx="16459200" cy="1097280"/>
            <a:chOff x="0" y="0"/>
            <a:chExt cx="2194560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Market Opportunity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1554480"/>
            <a:ext cx="16459200" cy="548640"/>
            <a:chOff x="0" y="0"/>
            <a:chExt cx="219456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FFD1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"A massive, untapped emotional-tech market — waiting to be built."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8903" y="2364743"/>
            <a:ext cx="15570203" cy="1762763"/>
            <a:chOff x="0" y="0"/>
            <a:chExt cx="20760271" cy="235035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20726399" cy="2316480"/>
            </a:xfrm>
            <a:custGeom>
              <a:avLst/>
              <a:gdLst/>
              <a:ahLst/>
              <a:cxnLst/>
              <a:rect l="l" t="t" r="r" b="b"/>
              <a:pathLst>
                <a:path w="20726399" h="2316480">
                  <a:moveTo>
                    <a:pt x="0" y="0"/>
                  </a:moveTo>
                  <a:lnTo>
                    <a:pt x="20726399" y="0"/>
                  </a:lnTo>
                  <a:lnTo>
                    <a:pt x="20726399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0760182" cy="2350262"/>
            </a:xfrm>
            <a:custGeom>
              <a:avLst/>
              <a:gdLst/>
              <a:ahLst/>
              <a:cxnLst/>
              <a:rect l="l" t="t" r="r" b="b"/>
              <a:pathLst>
                <a:path w="20760182" h="235026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333371"/>
                  </a:lnTo>
                  <a:cubicBezTo>
                    <a:pt x="20760182" y="2342769"/>
                    <a:pt x="20752563" y="2350262"/>
                    <a:pt x="20743290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0743290" y="2316480"/>
                  </a:lnTo>
                  <a:lnTo>
                    <a:pt x="20743290" y="2333371"/>
                  </a:lnTo>
                  <a:lnTo>
                    <a:pt x="20726400" y="2333371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58903" y="2364743"/>
            <a:ext cx="7797803" cy="1762763"/>
            <a:chOff x="0" y="0"/>
            <a:chExt cx="10397071" cy="235035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0363200" cy="2316480"/>
            </a:xfrm>
            <a:custGeom>
              <a:avLst/>
              <a:gdLst/>
              <a:ahLst/>
              <a:cxnLst/>
              <a:rect l="l" t="t" r="r" b="b"/>
              <a:pathLst>
                <a:path w="10363200" h="2316480">
                  <a:moveTo>
                    <a:pt x="0" y="0"/>
                  </a:moveTo>
                  <a:lnTo>
                    <a:pt x="10363200" y="0"/>
                  </a:lnTo>
                  <a:lnTo>
                    <a:pt x="103632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396982" cy="2350262"/>
            </a:xfrm>
            <a:custGeom>
              <a:avLst/>
              <a:gdLst/>
              <a:ahLst/>
              <a:cxnLst/>
              <a:rect l="l" t="t" r="r" b="b"/>
              <a:pathLst>
                <a:path w="10396982" h="235026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2333371"/>
                  </a:lnTo>
                  <a:cubicBezTo>
                    <a:pt x="10396982" y="2342769"/>
                    <a:pt x="10389362" y="2350262"/>
                    <a:pt x="103800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0380091" y="2316480"/>
                  </a:lnTo>
                  <a:lnTo>
                    <a:pt x="10380091" y="2333371"/>
                  </a:lnTo>
                  <a:lnTo>
                    <a:pt x="10363200" y="2333371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737360" y="2377440"/>
            <a:ext cx="1645920" cy="1737360"/>
            <a:chOff x="0" y="0"/>
            <a:chExt cx="2194560" cy="23164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4560" cy="2316480"/>
            </a:xfrm>
            <a:custGeom>
              <a:avLst/>
              <a:gdLst/>
              <a:ahLst/>
              <a:cxnLst/>
              <a:rect l="l" t="t" r="r" b="b"/>
              <a:pathLst>
                <a:path w="2194560" h="2316480">
                  <a:moveTo>
                    <a:pt x="0" y="0"/>
                  </a:moveTo>
                  <a:lnTo>
                    <a:pt x="2194560" y="0"/>
                  </a:lnTo>
                  <a:lnTo>
                    <a:pt x="21945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431" r="-8543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19456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TAM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66160" y="2377440"/>
            <a:ext cx="6217920" cy="1737360"/>
            <a:chOff x="0" y="0"/>
            <a:chExt cx="8290560" cy="23164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90560" cy="2316480"/>
            </a:xfrm>
            <a:custGeom>
              <a:avLst/>
              <a:gdLst/>
              <a:ahLst/>
              <a:cxnLst/>
              <a:rect l="l" t="t" r="r" b="b"/>
              <a:pathLst>
                <a:path w="8290560" h="2316480">
                  <a:moveTo>
                    <a:pt x="0" y="0"/>
                  </a:moveTo>
                  <a:lnTo>
                    <a:pt x="8290560" y="0"/>
                  </a:lnTo>
                  <a:lnTo>
                    <a:pt x="82905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35" b="-1973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8290560" cy="2316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20+ Crore Users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21240" y="2377440"/>
            <a:ext cx="6684264" cy="1737360"/>
            <a:chOff x="0" y="0"/>
            <a:chExt cx="8912352" cy="2316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12352" cy="2316480"/>
            </a:xfrm>
            <a:custGeom>
              <a:avLst/>
              <a:gdLst/>
              <a:ahLst/>
              <a:cxnLst/>
              <a:rect l="l" t="t" r="r" b="b"/>
              <a:pathLst>
                <a:path w="8912352" h="2316480">
                  <a:moveTo>
                    <a:pt x="0" y="0"/>
                  </a:moveTo>
                  <a:lnTo>
                    <a:pt x="8912352" y="0"/>
                  </a:lnTo>
                  <a:lnTo>
                    <a:pt x="8912352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66" b="-2496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912352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couples in India with smartphones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644903" y="4559303"/>
            <a:ext cx="10998203" cy="1762763"/>
            <a:chOff x="0" y="0"/>
            <a:chExt cx="14664271" cy="235035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4630399" cy="2316480"/>
            </a:xfrm>
            <a:custGeom>
              <a:avLst/>
              <a:gdLst/>
              <a:ahLst/>
              <a:cxnLst/>
              <a:rect l="l" t="t" r="r" b="b"/>
              <a:pathLst>
                <a:path w="14630399" h="2316480">
                  <a:moveTo>
                    <a:pt x="0" y="0"/>
                  </a:moveTo>
                  <a:lnTo>
                    <a:pt x="14630399" y="0"/>
                  </a:lnTo>
                  <a:lnTo>
                    <a:pt x="14630399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4664182" cy="2350262"/>
            </a:xfrm>
            <a:custGeom>
              <a:avLst/>
              <a:gdLst/>
              <a:ahLst/>
              <a:cxnLst/>
              <a:rect l="l" t="t" r="r" b="b"/>
              <a:pathLst>
                <a:path w="14664182" h="235026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2333371"/>
                  </a:lnTo>
                  <a:cubicBezTo>
                    <a:pt x="14664182" y="2342769"/>
                    <a:pt x="14656563" y="2350262"/>
                    <a:pt x="14647290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14647290" y="2316480"/>
                  </a:lnTo>
                  <a:lnTo>
                    <a:pt x="14647290" y="2333371"/>
                  </a:lnTo>
                  <a:lnTo>
                    <a:pt x="14630400" y="2333371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3644903" y="4559303"/>
            <a:ext cx="5511803" cy="1762763"/>
            <a:chOff x="0" y="0"/>
            <a:chExt cx="7349071" cy="235035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315200" cy="2316480"/>
            </a:xfrm>
            <a:custGeom>
              <a:avLst/>
              <a:gdLst/>
              <a:ahLst/>
              <a:cxnLst/>
              <a:rect l="l" t="t" r="r" b="b"/>
              <a:pathLst>
                <a:path w="7315200" h="2316480">
                  <a:moveTo>
                    <a:pt x="0" y="0"/>
                  </a:moveTo>
                  <a:lnTo>
                    <a:pt x="7315200" y="0"/>
                  </a:lnTo>
                  <a:lnTo>
                    <a:pt x="73152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348982" cy="2350262"/>
            </a:xfrm>
            <a:custGeom>
              <a:avLst/>
              <a:gdLst/>
              <a:ahLst/>
              <a:cxnLst/>
              <a:rect l="l" t="t" r="r" b="b"/>
              <a:pathLst>
                <a:path w="7348982" h="235026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333371"/>
                  </a:lnTo>
                  <a:cubicBezTo>
                    <a:pt x="7348982" y="2342769"/>
                    <a:pt x="7341362" y="2350262"/>
                    <a:pt x="73320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7332091" y="2316480"/>
                  </a:lnTo>
                  <a:lnTo>
                    <a:pt x="7332091" y="2333371"/>
                  </a:lnTo>
                  <a:lnTo>
                    <a:pt x="7315200" y="23333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023360" y="4572000"/>
            <a:ext cx="1645920" cy="1737360"/>
            <a:chOff x="0" y="0"/>
            <a:chExt cx="2194560" cy="2316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4560" cy="2316480"/>
            </a:xfrm>
            <a:custGeom>
              <a:avLst/>
              <a:gdLst/>
              <a:ahLst/>
              <a:cxnLst/>
              <a:rect l="l" t="t" r="r" b="b"/>
              <a:pathLst>
                <a:path w="2194560" h="2316480">
                  <a:moveTo>
                    <a:pt x="0" y="0"/>
                  </a:moveTo>
                  <a:lnTo>
                    <a:pt x="2194560" y="0"/>
                  </a:lnTo>
                  <a:lnTo>
                    <a:pt x="21945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431" r="-8543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219456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SAM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852160" y="4572000"/>
            <a:ext cx="4389120" cy="1737360"/>
            <a:chOff x="0" y="0"/>
            <a:chExt cx="5852160" cy="2316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2160" cy="2316480"/>
            </a:xfrm>
            <a:custGeom>
              <a:avLst/>
              <a:gdLst/>
              <a:ahLst/>
              <a:cxnLst/>
              <a:rect l="l" t="t" r="r" b="b"/>
              <a:pathLst>
                <a:path w="5852160" h="231648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r="-78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5852160" cy="2316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5–8 Crore Users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92640" y="4572000"/>
            <a:ext cx="4718304" cy="1737360"/>
            <a:chOff x="0" y="0"/>
            <a:chExt cx="6291072" cy="23164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91072" cy="2316480"/>
            </a:xfrm>
            <a:custGeom>
              <a:avLst/>
              <a:gdLst/>
              <a:ahLst/>
              <a:cxnLst/>
              <a:rect l="l" t="t" r="r" b="b"/>
              <a:pathLst>
                <a:path w="6291072" h="2316480">
                  <a:moveTo>
                    <a:pt x="0" y="0"/>
                  </a:moveTo>
                  <a:lnTo>
                    <a:pt x="6291072" y="0"/>
                  </a:lnTo>
                  <a:lnTo>
                    <a:pt x="6291072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7" b="-291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291072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 digital users aged 18–40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930903" y="6753863"/>
            <a:ext cx="6426203" cy="1762763"/>
            <a:chOff x="0" y="0"/>
            <a:chExt cx="8568271" cy="235035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8534400" cy="2316480"/>
            </a:xfrm>
            <a:custGeom>
              <a:avLst/>
              <a:gdLst/>
              <a:ahLst/>
              <a:cxnLst/>
              <a:rect l="l" t="t" r="r" b="b"/>
              <a:pathLst>
                <a:path w="8534400" h="2316480">
                  <a:moveTo>
                    <a:pt x="0" y="0"/>
                  </a:moveTo>
                  <a:lnTo>
                    <a:pt x="8534400" y="0"/>
                  </a:lnTo>
                  <a:lnTo>
                    <a:pt x="85344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8568182" cy="2350262"/>
            </a:xfrm>
            <a:custGeom>
              <a:avLst/>
              <a:gdLst/>
              <a:ahLst/>
              <a:cxnLst/>
              <a:rect l="l" t="t" r="r" b="b"/>
              <a:pathLst>
                <a:path w="8568182" h="235026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2333371"/>
                  </a:lnTo>
                  <a:cubicBezTo>
                    <a:pt x="8568182" y="2342769"/>
                    <a:pt x="8560562" y="2350262"/>
                    <a:pt x="85512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8551291" y="2316480"/>
                  </a:lnTo>
                  <a:lnTo>
                    <a:pt x="8551291" y="2333371"/>
                  </a:lnTo>
                  <a:lnTo>
                    <a:pt x="8534400" y="233337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5930903" y="6753863"/>
            <a:ext cx="3225803" cy="1762763"/>
            <a:chOff x="0" y="0"/>
            <a:chExt cx="4301071" cy="235035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4267200" cy="2316480"/>
            </a:xfrm>
            <a:custGeom>
              <a:avLst/>
              <a:gdLst/>
              <a:ahLst/>
              <a:cxnLst/>
              <a:rect l="l" t="t" r="r" b="b"/>
              <a:pathLst>
                <a:path w="4267200" h="2316480">
                  <a:moveTo>
                    <a:pt x="0" y="0"/>
                  </a:moveTo>
                  <a:lnTo>
                    <a:pt x="4267200" y="0"/>
                  </a:lnTo>
                  <a:lnTo>
                    <a:pt x="42672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4300982" cy="2350262"/>
            </a:xfrm>
            <a:custGeom>
              <a:avLst/>
              <a:gdLst/>
              <a:ahLst/>
              <a:cxnLst/>
              <a:rect l="l" t="t" r="r" b="b"/>
              <a:pathLst>
                <a:path w="4300982" h="235026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2333371"/>
                  </a:lnTo>
                  <a:cubicBezTo>
                    <a:pt x="4300982" y="2342769"/>
                    <a:pt x="4293362" y="2350262"/>
                    <a:pt x="428409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284091" y="2316480"/>
                  </a:lnTo>
                  <a:lnTo>
                    <a:pt x="4284091" y="2333371"/>
                  </a:lnTo>
                  <a:lnTo>
                    <a:pt x="4267200" y="2333371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309360" y="6766560"/>
            <a:ext cx="1645920" cy="1737360"/>
            <a:chOff x="0" y="0"/>
            <a:chExt cx="2194560" cy="23164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4560" cy="2316480"/>
            </a:xfrm>
            <a:custGeom>
              <a:avLst/>
              <a:gdLst/>
              <a:ahLst/>
              <a:cxnLst/>
              <a:rect l="l" t="t" r="r" b="b"/>
              <a:pathLst>
                <a:path w="2194560" h="2316480">
                  <a:moveTo>
                    <a:pt x="0" y="0"/>
                  </a:moveTo>
                  <a:lnTo>
                    <a:pt x="2194560" y="0"/>
                  </a:lnTo>
                  <a:lnTo>
                    <a:pt x="21945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431" r="-8543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219456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SOM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138160" y="6766560"/>
            <a:ext cx="2560320" cy="1737360"/>
            <a:chOff x="0" y="0"/>
            <a:chExt cx="3413760" cy="2316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13760" cy="2316480"/>
            </a:xfrm>
            <a:custGeom>
              <a:avLst/>
              <a:gdLst/>
              <a:ahLst/>
              <a:cxnLst/>
              <a:rect l="l" t="t" r="r" b="b"/>
              <a:pathLst>
                <a:path w="3413760" h="2316480">
                  <a:moveTo>
                    <a:pt x="0" y="0"/>
                  </a:moveTo>
                  <a:lnTo>
                    <a:pt x="3413760" y="0"/>
                  </a:lnTo>
                  <a:lnTo>
                    <a:pt x="34137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63" r="-3706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3413760" cy="2316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50K–2L Users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74333" y="6633877"/>
            <a:ext cx="2842051" cy="2127218"/>
            <a:chOff x="-119609" y="-176911"/>
            <a:chExt cx="3789401" cy="2836291"/>
          </a:xfrm>
        </p:grpSpPr>
        <p:sp>
          <p:nvSpPr>
            <p:cNvPr id="57" name="Freeform 57"/>
            <p:cNvSpPr/>
            <p:nvPr/>
          </p:nvSpPr>
          <p:spPr>
            <a:xfrm>
              <a:off x="-119609" y="-176911"/>
              <a:ext cx="3669792" cy="2316480"/>
            </a:xfrm>
            <a:custGeom>
              <a:avLst/>
              <a:gdLst/>
              <a:ahLst/>
              <a:cxnLst/>
              <a:rect l="l" t="t" r="r" b="b"/>
              <a:pathLst>
                <a:path w="3669792" h="2316480">
                  <a:moveTo>
                    <a:pt x="0" y="0"/>
                  </a:moveTo>
                  <a:lnTo>
                    <a:pt x="3669792" y="0"/>
                  </a:lnTo>
                  <a:lnTo>
                    <a:pt x="3669792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88" r="-3098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3669792" cy="2697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adopters – Y1 target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35943" y="8948423"/>
            <a:ext cx="17216123" cy="1031243"/>
            <a:chOff x="0" y="0"/>
            <a:chExt cx="22954831" cy="137499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22920960" cy="1341120"/>
            </a:xfrm>
            <a:custGeom>
              <a:avLst/>
              <a:gdLst/>
              <a:ahLst/>
              <a:cxnLst/>
              <a:rect l="l" t="t" r="r" b="b"/>
              <a:pathLst>
                <a:path w="22920960" h="1341120">
                  <a:moveTo>
                    <a:pt x="0" y="0"/>
                  </a:moveTo>
                  <a:lnTo>
                    <a:pt x="22920960" y="0"/>
                  </a:lnTo>
                  <a:lnTo>
                    <a:pt x="22920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22954743" cy="1374902"/>
            </a:xfrm>
            <a:custGeom>
              <a:avLst/>
              <a:gdLst/>
              <a:ahLst/>
              <a:cxnLst/>
              <a:rect l="l" t="t" r="r" b="b"/>
              <a:pathLst>
                <a:path w="22954743" h="1374902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358011"/>
                  </a:lnTo>
                  <a:cubicBezTo>
                    <a:pt x="22954743" y="1367409"/>
                    <a:pt x="22947123" y="1374902"/>
                    <a:pt x="2293785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937851" y="1341120"/>
                  </a:lnTo>
                  <a:lnTo>
                    <a:pt x="22937851" y="1358011"/>
                  </a:lnTo>
                  <a:lnTo>
                    <a:pt x="22920961" y="13580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14400" y="8961120"/>
            <a:ext cx="5486400" cy="1005840"/>
            <a:chOff x="0" y="0"/>
            <a:chExt cx="7315200" cy="13411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0" cy="1341120"/>
            </a:xfrm>
            <a:custGeom>
              <a:avLst/>
              <a:gdLst/>
              <a:ahLst/>
              <a:cxnLst/>
              <a:rect l="l" t="t" r="r" b="b"/>
              <a:pathLst>
                <a:path w="7315200" h="134112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2" b="-5628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</a:t>
              </a:r>
              <a:r>
                <a:rPr lang="en-US" sz="1800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12M+ monthly Google searches: 'relationship problems India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75120" y="8961120"/>
            <a:ext cx="5486400" cy="1005840"/>
            <a:chOff x="0" y="0"/>
            <a:chExt cx="7315200" cy="13411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315200" cy="1341120"/>
            </a:xfrm>
            <a:custGeom>
              <a:avLst/>
              <a:gdLst/>
              <a:ahLst/>
              <a:cxnLst/>
              <a:rect l="l" t="t" r="r" b="b"/>
              <a:pathLst>
                <a:path w="7315200" h="134112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2" b="-5628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</a:t>
              </a:r>
              <a:r>
                <a:rPr lang="en-US" sz="1800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India divorce rate ↑ 100% in 10 years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435840" y="8961120"/>
            <a:ext cx="5486400" cy="1005840"/>
            <a:chOff x="0" y="0"/>
            <a:chExt cx="7315200" cy="13411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315200" cy="1341120"/>
            </a:xfrm>
            <a:custGeom>
              <a:avLst/>
              <a:gdLst/>
              <a:ahLst/>
              <a:cxnLst/>
              <a:rect l="l" t="t" r="r" b="b"/>
              <a:pathLst>
                <a:path w="7315200" h="134112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2" b="-5628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</a:t>
              </a:r>
              <a:r>
                <a:rPr lang="en-US" sz="1800" dirty="0">
                  <a:solidFill>
                    <a:srgbClr val="FFD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₹0 direct AI competitor in market today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18823" y="316487"/>
            <a:ext cx="135131" cy="1049531"/>
            <a:chOff x="0" y="0"/>
            <a:chExt cx="180175" cy="139937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65504"/>
            </a:xfrm>
            <a:custGeom>
              <a:avLst/>
              <a:gdLst/>
              <a:ahLst/>
              <a:cxnLst/>
              <a:rect l="l" t="t" r="r" b="b"/>
              <a:pathLst>
                <a:path w="146304" h="1365504">
                  <a:moveTo>
                    <a:pt x="0" y="0"/>
                  </a:moveTo>
                  <a:lnTo>
                    <a:pt x="146304" y="0"/>
                  </a:lnTo>
                  <a:lnTo>
                    <a:pt x="146304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99286"/>
            </a:xfrm>
            <a:custGeom>
              <a:avLst/>
              <a:gdLst/>
              <a:ahLst/>
              <a:cxnLst/>
              <a:rect l="l" t="t" r="r" b="b"/>
              <a:pathLst>
                <a:path w="180086" h="13992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82395"/>
                  </a:lnTo>
                  <a:cubicBezTo>
                    <a:pt x="180086" y="1391793"/>
                    <a:pt x="172466" y="1399286"/>
                    <a:pt x="163195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63195" y="1365504"/>
                  </a:lnTo>
                  <a:lnTo>
                    <a:pt x="163195" y="1382395"/>
                  </a:lnTo>
                  <a:lnTo>
                    <a:pt x="146304" y="13823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329184"/>
            <a:ext cx="16459200" cy="1024128"/>
            <a:chOff x="0" y="0"/>
            <a:chExt cx="21945600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365504"/>
            </a:xfrm>
            <a:custGeom>
              <a:avLst/>
              <a:gdLst/>
              <a:ahLst/>
              <a:cxnLst/>
              <a:rect l="l" t="t" r="r" b="b"/>
              <a:pathLst>
                <a:path w="21945600" h="1365504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1A054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Business Model Canvas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3944" y="1594104"/>
            <a:ext cx="2865120" cy="3870960"/>
            <a:chOff x="0" y="0"/>
            <a:chExt cx="3820160" cy="5161280"/>
          </a:xfrm>
        </p:grpSpPr>
        <p:sp>
          <p:nvSpPr>
            <p:cNvPr id="12" name="Freeform 12"/>
            <p:cNvSpPr/>
            <p:nvPr/>
          </p:nvSpPr>
          <p:spPr>
            <a:xfrm>
              <a:off x="20320" y="20320"/>
              <a:ext cx="3779520" cy="5120640"/>
            </a:xfrm>
            <a:custGeom>
              <a:avLst/>
              <a:gdLst/>
              <a:ahLst/>
              <a:cxnLst/>
              <a:rect l="l" t="t" r="r" b="b"/>
              <a:pathLst>
                <a:path w="3779520" h="5120640">
                  <a:moveTo>
                    <a:pt x="0" y="0"/>
                  </a:moveTo>
                  <a:lnTo>
                    <a:pt x="3779520" y="0"/>
                  </a:lnTo>
                  <a:lnTo>
                    <a:pt x="377952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820160" cy="5161280"/>
            </a:xfrm>
            <a:custGeom>
              <a:avLst/>
              <a:gdLst/>
              <a:ahLst/>
              <a:cxnLst/>
              <a:rect l="l" t="t" r="r" b="b"/>
              <a:pathLst>
                <a:path w="3820160" h="5161280">
                  <a:moveTo>
                    <a:pt x="20320" y="0"/>
                  </a:moveTo>
                  <a:lnTo>
                    <a:pt x="3799840" y="0"/>
                  </a:lnTo>
                  <a:cubicBezTo>
                    <a:pt x="3811016" y="0"/>
                    <a:pt x="3820160" y="9144"/>
                    <a:pt x="3820160" y="20320"/>
                  </a:cubicBezTo>
                  <a:lnTo>
                    <a:pt x="3820160" y="5140960"/>
                  </a:lnTo>
                  <a:cubicBezTo>
                    <a:pt x="3820160" y="5152136"/>
                    <a:pt x="3811016" y="5161280"/>
                    <a:pt x="3799840" y="5161280"/>
                  </a:cubicBezTo>
                  <a:lnTo>
                    <a:pt x="20320" y="5161280"/>
                  </a:lnTo>
                  <a:cubicBezTo>
                    <a:pt x="9144" y="5161280"/>
                    <a:pt x="0" y="5152136"/>
                    <a:pt x="0" y="51409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5140960"/>
                  </a:lnTo>
                  <a:lnTo>
                    <a:pt x="20320" y="5140960"/>
                  </a:lnTo>
                  <a:lnTo>
                    <a:pt x="20320" y="5120640"/>
                  </a:lnTo>
                  <a:lnTo>
                    <a:pt x="3799840" y="5120640"/>
                  </a:lnTo>
                  <a:lnTo>
                    <a:pt x="3799840" y="5140960"/>
                  </a:lnTo>
                  <a:lnTo>
                    <a:pt x="3779520" y="5140960"/>
                  </a:lnTo>
                  <a:lnTo>
                    <a:pt x="3779520" y="20320"/>
                  </a:lnTo>
                  <a:lnTo>
                    <a:pt x="3799840" y="20320"/>
                  </a:lnTo>
                  <a:lnTo>
                    <a:pt x="37998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16487" y="1596647"/>
            <a:ext cx="2860043" cy="98555"/>
            <a:chOff x="0" y="0"/>
            <a:chExt cx="3813391" cy="131407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3779520" cy="97536"/>
            </a:xfrm>
            <a:custGeom>
              <a:avLst/>
              <a:gdLst/>
              <a:ahLst/>
              <a:cxnLst/>
              <a:rect l="l" t="t" r="r" b="b"/>
              <a:pathLst>
                <a:path w="3779520" h="97536">
                  <a:moveTo>
                    <a:pt x="0" y="0"/>
                  </a:moveTo>
                  <a:lnTo>
                    <a:pt x="3779520" y="0"/>
                  </a:lnTo>
                  <a:lnTo>
                    <a:pt x="3779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3813302" cy="131320"/>
            </a:xfrm>
            <a:custGeom>
              <a:avLst/>
              <a:gdLst/>
              <a:ahLst/>
              <a:cxnLst/>
              <a:rect l="l" t="t" r="r" b="b"/>
              <a:pathLst>
                <a:path w="3813302" h="131320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14427"/>
                  </a:lnTo>
                  <a:cubicBezTo>
                    <a:pt x="3813302" y="123825"/>
                    <a:pt x="3805682" y="131318"/>
                    <a:pt x="37964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796411" y="97536"/>
                  </a:lnTo>
                  <a:lnTo>
                    <a:pt x="3796411" y="114427"/>
                  </a:lnTo>
                  <a:lnTo>
                    <a:pt x="3779520" y="114427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75488" y="1719072"/>
            <a:ext cx="2615184" cy="512064"/>
            <a:chOff x="0" y="0"/>
            <a:chExt cx="3486912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86912" cy="682752"/>
            </a:xfrm>
            <a:custGeom>
              <a:avLst/>
              <a:gdLst/>
              <a:ahLst/>
              <a:cxnLst/>
              <a:rect l="l" t="t" r="r" b="b"/>
              <a:pathLst>
                <a:path w="3486912" h="682752">
                  <a:moveTo>
                    <a:pt x="0" y="0"/>
                  </a:moveTo>
                  <a:lnTo>
                    <a:pt x="3486912" y="0"/>
                  </a:lnTo>
                  <a:lnTo>
                    <a:pt x="3486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12" b="-4951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4869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6C22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Partners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5488" y="2286000"/>
            <a:ext cx="2578608" cy="3035808"/>
            <a:chOff x="0" y="0"/>
            <a:chExt cx="3438144" cy="40477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38144" cy="4047744"/>
            </a:xfrm>
            <a:custGeom>
              <a:avLst/>
              <a:gdLst/>
              <a:ahLst/>
              <a:cxnLst/>
              <a:rect l="l" t="t" r="r" b="b"/>
              <a:pathLst>
                <a:path w="3438144" h="4047744">
                  <a:moveTo>
                    <a:pt x="0" y="0"/>
                  </a:moveTo>
                  <a:lnTo>
                    <a:pt x="3438144" y="0"/>
                  </a:lnTo>
                  <a:lnTo>
                    <a:pt x="3438144" y="4047744"/>
                  </a:lnTo>
                  <a:lnTo>
                    <a:pt x="0" y="4047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052" r="-10105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438144" cy="4066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Therapists &amp; Counselors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Specialists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Advisors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NGOs &amp; Wellness Orgs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13176" y="1594104"/>
            <a:ext cx="2865120" cy="1822704"/>
            <a:chOff x="0" y="0"/>
            <a:chExt cx="3820160" cy="2430272"/>
          </a:xfrm>
        </p:grpSpPr>
        <p:sp>
          <p:nvSpPr>
            <p:cNvPr id="24" name="Freeform 24"/>
            <p:cNvSpPr/>
            <p:nvPr/>
          </p:nvSpPr>
          <p:spPr>
            <a:xfrm>
              <a:off x="20320" y="20320"/>
              <a:ext cx="3779520" cy="2389632"/>
            </a:xfrm>
            <a:custGeom>
              <a:avLst/>
              <a:gdLst/>
              <a:ahLst/>
              <a:cxnLst/>
              <a:rect l="l" t="t" r="r" b="b"/>
              <a:pathLst>
                <a:path w="3779520" h="2389632">
                  <a:moveTo>
                    <a:pt x="0" y="0"/>
                  </a:moveTo>
                  <a:lnTo>
                    <a:pt x="3779520" y="0"/>
                  </a:lnTo>
                  <a:lnTo>
                    <a:pt x="377952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3820160" cy="2430272"/>
            </a:xfrm>
            <a:custGeom>
              <a:avLst/>
              <a:gdLst/>
              <a:ahLst/>
              <a:cxnLst/>
              <a:rect l="l" t="t" r="r" b="b"/>
              <a:pathLst>
                <a:path w="3820160" h="2430272">
                  <a:moveTo>
                    <a:pt x="20320" y="0"/>
                  </a:moveTo>
                  <a:lnTo>
                    <a:pt x="3799840" y="0"/>
                  </a:lnTo>
                  <a:cubicBezTo>
                    <a:pt x="3811016" y="0"/>
                    <a:pt x="3820160" y="9144"/>
                    <a:pt x="3820160" y="20320"/>
                  </a:cubicBezTo>
                  <a:lnTo>
                    <a:pt x="3820160" y="2409952"/>
                  </a:lnTo>
                  <a:cubicBezTo>
                    <a:pt x="3820160" y="2421128"/>
                    <a:pt x="3811016" y="2430272"/>
                    <a:pt x="3799840" y="2430272"/>
                  </a:cubicBezTo>
                  <a:lnTo>
                    <a:pt x="20320" y="2430272"/>
                  </a:lnTo>
                  <a:cubicBezTo>
                    <a:pt x="9144" y="2430272"/>
                    <a:pt x="0" y="2421128"/>
                    <a:pt x="0" y="24099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409952"/>
                  </a:lnTo>
                  <a:lnTo>
                    <a:pt x="20320" y="2409952"/>
                  </a:lnTo>
                  <a:lnTo>
                    <a:pt x="20320" y="2389632"/>
                  </a:lnTo>
                  <a:lnTo>
                    <a:pt x="3799840" y="2389632"/>
                  </a:lnTo>
                  <a:lnTo>
                    <a:pt x="3799840" y="2409952"/>
                  </a:lnTo>
                  <a:lnTo>
                    <a:pt x="3779520" y="2409952"/>
                  </a:lnTo>
                  <a:lnTo>
                    <a:pt x="3779520" y="20320"/>
                  </a:lnTo>
                  <a:lnTo>
                    <a:pt x="3799840" y="20320"/>
                  </a:lnTo>
                  <a:lnTo>
                    <a:pt x="37998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3315719" y="1596647"/>
            <a:ext cx="2860043" cy="98555"/>
            <a:chOff x="0" y="0"/>
            <a:chExt cx="3813391" cy="131407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3779520" cy="97536"/>
            </a:xfrm>
            <a:custGeom>
              <a:avLst/>
              <a:gdLst/>
              <a:ahLst/>
              <a:cxnLst/>
              <a:rect l="l" t="t" r="r" b="b"/>
              <a:pathLst>
                <a:path w="3779520" h="97536">
                  <a:moveTo>
                    <a:pt x="0" y="0"/>
                  </a:moveTo>
                  <a:lnTo>
                    <a:pt x="3779520" y="0"/>
                  </a:lnTo>
                  <a:lnTo>
                    <a:pt x="3779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3813302" cy="131320"/>
            </a:xfrm>
            <a:custGeom>
              <a:avLst/>
              <a:gdLst/>
              <a:ahLst/>
              <a:cxnLst/>
              <a:rect l="l" t="t" r="r" b="b"/>
              <a:pathLst>
                <a:path w="3813302" h="131320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14427"/>
                  </a:lnTo>
                  <a:cubicBezTo>
                    <a:pt x="3813302" y="123825"/>
                    <a:pt x="3805682" y="131318"/>
                    <a:pt x="37964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796411" y="97536"/>
                  </a:lnTo>
                  <a:lnTo>
                    <a:pt x="3796411" y="114427"/>
                  </a:lnTo>
                  <a:lnTo>
                    <a:pt x="3779520" y="114427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474720" y="1719072"/>
            <a:ext cx="2615184" cy="512064"/>
            <a:chOff x="0" y="0"/>
            <a:chExt cx="3486912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86912" cy="682752"/>
            </a:xfrm>
            <a:custGeom>
              <a:avLst/>
              <a:gdLst/>
              <a:ahLst/>
              <a:cxnLst/>
              <a:rect l="l" t="t" r="r" b="b"/>
              <a:pathLst>
                <a:path w="3486912" h="682752">
                  <a:moveTo>
                    <a:pt x="0" y="0"/>
                  </a:moveTo>
                  <a:lnTo>
                    <a:pt x="3486912" y="0"/>
                  </a:lnTo>
                  <a:lnTo>
                    <a:pt x="3486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12" b="-4951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4869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9B51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Activities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74720" y="2286000"/>
            <a:ext cx="2578608" cy="987552"/>
            <a:chOff x="0" y="0"/>
            <a:chExt cx="3438144" cy="13167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38144" cy="1316736"/>
            </a:xfrm>
            <a:custGeom>
              <a:avLst/>
              <a:gdLst/>
              <a:ahLst/>
              <a:cxnLst/>
              <a:rect l="l" t="t" r="r" b="b"/>
              <a:pathLst>
                <a:path w="3438144" h="1316736">
                  <a:moveTo>
                    <a:pt x="0" y="0"/>
                  </a:moveTo>
                  <a:lnTo>
                    <a:pt x="3438144" y="0"/>
                  </a:lnTo>
                  <a:lnTo>
                    <a:pt x="343814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7" b="-87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3438144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Emotional Analysis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Conflict Resolution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 Space Sessions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12408" y="1594104"/>
            <a:ext cx="3688080" cy="3870960"/>
            <a:chOff x="0" y="0"/>
            <a:chExt cx="4917440" cy="5161280"/>
          </a:xfrm>
        </p:grpSpPr>
        <p:sp>
          <p:nvSpPr>
            <p:cNvPr id="36" name="Freeform 36"/>
            <p:cNvSpPr/>
            <p:nvPr/>
          </p:nvSpPr>
          <p:spPr>
            <a:xfrm>
              <a:off x="20320" y="20320"/>
              <a:ext cx="4876800" cy="5120640"/>
            </a:xfrm>
            <a:custGeom>
              <a:avLst/>
              <a:gdLst/>
              <a:ahLst/>
              <a:cxnLst/>
              <a:rect l="l" t="t" r="r" b="b"/>
              <a:pathLst>
                <a:path w="4876800" h="5120640">
                  <a:moveTo>
                    <a:pt x="0" y="0"/>
                  </a:moveTo>
                  <a:lnTo>
                    <a:pt x="4876800" y="0"/>
                  </a:lnTo>
                  <a:lnTo>
                    <a:pt x="4876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917440" cy="5161280"/>
            </a:xfrm>
            <a:custGeom>
              <a:avLst/>
              <a:gdLst/>
              <a:ahLst/>
              <a:cxnLst/>
              <a:rect l="l" t="t" r="r" b="b"/>
              <a:pathLst>
                <a:path w="4917440" h="5161280">
                  <a:moveTo>
                    <a:pt x="20320" y="0"/>
                  </a:moveTo>
                  <a:lnTo>
                    <a:pt x="4897120" y="0"/>
                  </a:lnTo>
                  <a:cubicBezTo>
                    <a:pt x="4908296" y="0"/>
                    <a:pt x="4917440" y="9144"/>
                    <a:pt x="4917440" y="20320"/>
                  </a:cubicBezTo>
                  <a:lnTo>
                    <a:pt x="4917440" y="5140960"/>
                  </a:lnTo>
                  <a:cubicBezTo>
                    <a:pt x="4917440" y="5152136"/>
                    <a:pt x="4908296" y="5161280"/>
                    <a:pt x="4897120" y="5161280"/>
                  </a:cubicBezTo>
                  <a:lnTo>
                    <a:pt x="20320" y="5161280"/>
                  </a:lnTo>
                  <a:cubicBezTo>
                    <a:pt x="9144" y="5161280"/>
                    <a:pt x="0" y="5152136"/>
                    <a:pt x="0" y="51409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5140960"/>
                  </a:lnTo>
                  <a:lnTo>
                    <a:pt x="20320" y="5140960"/>
                  </a:lnTo>
                  <a:lnTo>
                    <a:pt x="20320" y="5120640"/>
                  </a:lnTo>
                  <a:lnTo>
                    <a:pt x="4897120" y="5120640"/>
                  </a:lnTo>
                  <a:lnTo>
                    <a:pt x="4897120" y="5140960"/>
                  </a:lnTo>
                  <a:lnTo>
                    <a:pt x="4876800" y="5140960"/>
                  </a:lnTo>
                  <a:lnTo>
                    <a:pt x="4876800" y="20320"/>
                  </a:lnTo>
                  <a:lnTo>
                    <a:pt x="4897120" y="20320"/>
                  </a:lnTo>
                  <a:lnTo>
                    <a:pt x="48971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314951" y="1596647"/>
            <a:ext cx="3683003" cy="98555"/>
            <a:chOff x="0" y="0"/>
            <a:chExt cx="4910671" cy="131407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4876800" cy="97536"/>
            </a:xfrm>
            <a:custGeom>
              <a:avLst/>
              <a:gdLst/>
              <a:ahLst/>
              <a:cxnLst/>
              <a:rect l="l" t="t" r="r" b="b"/>
              <a:pathLst>
                <a:path w="4876800" h="97536">
                  <a:moveTo>
                    <a:pt x="0" y="0"/>
                  </a:moveTo>
                  <a:lnTo>
                    <a:pt x="4876800" y="0"/>
                  </a:lnTo>
                  <a:lnTo>
                    <a:pt x="4876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4910582" cy="131320"/>
            </a:xfrm>
            <a:custGeom>
              <a:avLst/>
              <a:gdLst/>
              <a:ahLst/>
              <a:cxnLst/>
              <a:rect l="l" t="t" r="r" b="b"/>
              <a:pathLst>
                <a:path w="4910582" h="131320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4427"/>
                  </a:lnTo>
                  <a:cubicBezTo>
                    <a:pt x="4910582" y="123825"/>
                    <a:pt x="4902962" y="131318"/>
                    <a:pt x="48936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4893691" y="97536"/>
                  </a:lnTo>
                  <a:lnTo>
                    <a:pt x="4893691" y="114427"/>
                  </a:lnTo>
                  <a:lnTo>
                    <a:pt x="4876800" y="11442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73952" y="1719072"/>
            <a:ext cx="3438144" cy="512064"/>
            <a:chOff x="0" y="0"/>
            <a:chExt cx="4584192" cy="68275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84192" cy="682752"/>
            </a:xfrm>
            <a:custGeom>
              <a:avLst/>
              <a:gdLst/>
              <a:ahLst/>
              <a:cxnLst/>
              <a:rect l="l" t="t" r="r" b="b"/>
              <a:pathLst>
                <a:path w="4584192" h="682752">
                  <a:moveTo>
                    <a:pt x="0" y="0"/>
                  </a:moveTo>
                  <a:lnTo>
                    <a:pt x="4584192" y="0"/>
                  </a:lnTo>
                  <a:lnTo>
                    <a:pt x="45841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828" b="-8082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58419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F4D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 Propositions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73952" y="2286000"/>
            <a:ext cx="3401568" cy="3035808"/>
            <a:chOff x="0" y="0"/>
            <a:chExt cx="4535424" cy="404774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35424" cy="4047744"/>
            </a:xfrm>
            <a:custGeom>
              <a:avLst/>
              <a:gdLst/>
              <a:ahLst/>
              <a:cxnLst/>
              <a:rect l="l" t="t" r="r" b="b"/>
              <a:pathLst>
                <a:path w="4535424" h="4047744">
                  <a:moveTo>
                    <a:pt x="0" y="0"/>
                  </a:moveTo>
                  <a:lnTo>
                    <a:pt x="4535424" y="0"/>
                  </a:lnTo>
                  <a:lnTo>
                    <a:pt x="4535424" y="4047744"/>
                  </a:lnTo>
                  <a:lnTo>
                    <a:pt x="0" y="4047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07" r="-6450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535424" cy="4066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Misunderstanding Resolution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Pre-Divorce Support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Emotional Clarity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Non-Judgmental AI Guidance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134600" y="1594104"/>
            <a:ext cx="2865120" cy="1822704"/>
            <a:chOff x="0" y="0"/>
            <a:chExt cx="3820160" cy="2430272"/>
          </a:xfrm>
        </p:grpSpPr>
        <p:sp>
          <p:nvSpPr>
            <p:cNvPr id="48" name="Freeform 48"/>
            <p:cNvSpPr/>
            <p:nvPr/>
          </p:nvSpPr>
          <p:spPr>
            <a:xfrm>
              <a:off x="20320" y="20320"/>
              <a:ext cx="3779520" cy="2389632"/>
            </a:xfrm>
            <a:custGeom>
              <a:avLst/>
              <a:gdLst/>
              <a:ahLst/>
              <a:cxnLst/>
              <a:rect l="l" t="t" r="r" b="b"/>
              <a:pathLst>
                <a:path w="3779520" h="2389632">
                  <a:moveTo>
                    <a:pt x="0" y="0"/>
                  </a:moveTo>
                  <a:lnTo>
                    <a:pt x="3779520" y="0"/>
                  </a:lnTo>
                  <a:lnTo>
                    <a:pt x="3779520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820160" cy="2430272"/>
            </a:xfrm>
            <a:custGeom>
              <a:avLst/>
              <a:gdLst/>
              <a:ahLst/>
              <a:cxnLst/>
              <a:rect l="l" t="t" r="r" b="b"/>
              <a:pathLst>
                <a:path w="3820160" h="2430272">
                  <a:moveTo>
                    <a:pt x="20320" y="0"/>
                  </a:moveTo>
                  <a:lnTo>
                    <a:pt x="3799840" y="0"/>
                  </a:lnTo>
                  <a:cubicBezTo>
                    <a:pt x="3811016" y="0"/>
                    <a:pt x="3820160" y="9144"/>
                    <a:pt x="3820160" y="20320"/>
                  </a:cubicBezTo>
                  <a:lnTo>
                    <a:pt x="3820160" y="2409952"/>
                  </a:lnTo>
                  <a:cubicBezTo>
                    <a:pt x="3820160" y="2421128"/>
                    <a:pt x="3811016" y="2430272"/>
                    <a:pt x="3799840" y="2430272"/>
                  </a:cubicBezTo>
                  <a:lnTo>
                    <a:pt x="20320" y="2430272"/>
                  </a:lnTo>
                  <a:cubicBezTo>
                    <a:pt x="9144" y="2430272"/>
                    <a:pt x="0" y="2421128"/>
                    <a:pt x="0" y="24099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409952"/>
                  </a:lnTo>
                  <a:lnTo>
                    <a:pt x="20320" y="2409952"/>
                  </a:lnTo>
                  <a:lnTo>
                    <a:pt x="20320" y="2389632"/>
                  </a:lnTo>
                  <a:lnTo>
                    <a:pt x="3799840" y="2389632"/>
                  </a:lnTo>
                  <a:lnTo>
                    <a:pt x="3799840" y="2409952"/>
                  </a:lnTo>
                  <a:lnTo>
                    <a:pt x="3779520" y="2409952"/>
                  </a:lnTo>
                  <a:lnTo>
                    <a:pt x="3779520" y="20320"/>
                  </a:lnTo>
                  <a:lnTo>
                    <a:pt x="3799840" y="20320"/>
                  </a:lnTo>
                  <a:lnTo>
                    <a:pt x="37998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0137143" y="1596647"/>
            <a:ext cx="2860043" cy="98555"/>
            <a:chOff x="0" y="0"/>
            <a:chExt cx="3813391" cy="131407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3779520" cy="97536"/>
            </a:xfrm>
            <a:custGeom>
              <a:avLst/>
              <a:gdLst/>
              <a:ahLst/>
              <a:cxnLst/>
              <a:rect l="l" t="t" r="r" b="b"/>
              <a:pathLst>
                <a:path w="3779520" h="97536">
                  <a:moveTo>
                    <a:pt x="0" y="0"/>
                  </a:moveTo>
                  <a:lnTo>
                    <a:pt x="3779520" y="0"/>
                  </a:lnTo>
                  <a:lnTo>
                    <a:pt x="3779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3813302" cy="131320"/>
            </a:xfrm>
            <a:custGeom>
              <a:avLst/>
              <a:gdLst/>
              <a:ahLst/>
              <a:cxnLst/>
              <a:rect l="l" t="t" r="r" b="b"/>
              <a:pathLst>
                <a:path w="3813302" h="131320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14427"/>
                  </a:lnTo>
                  <a:cubicBezTo>
                    <a:pt x="3813302" y="123825"/>
                    <a:pt x="3805682" y="131318"/>
                    <a:pt x="37964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796411" y="97536"/>
                  </a:lnTo>
                  <a:lnTo>
                    <a:pt x="3796411" y="114427"/>
                  </a:lnTo>
                  <a:lnTo>
                    <a:pt x="3779520" y="114427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296144" y="1719072"/>
            <a:ext cx="2615184" cy="512064"/>
            <a:chOff x="0" y="0"/>
            <a:chExt cx="3486912" cy="68275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86912" cy="682752"/>
            </a:xfrm>
            <a:custGeom>
              <a:avLst/>
              <a:gdLst/>
              <a:ahLst/>
              <a:cxnLst/>
              <a:rect l="l" t="t" r="r" b="b"/>
              <a:pathLst>
                <a:path w="3486912" h="682752">
                  <a:moveTo>
                    <a:pt x="0" y="0"/>
                  </a:moveTo>
                  <a:lnTo>
                    <a:pt x="3486912" y="0"/>
                  </a:lnTo>
                  <a:lnTo>
                    <a:pt x="3486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12" b="-4951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4869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06D6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Cust. Relationships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96144" y="2286000"/>
            <a:ext cx="2578608" cy="987552"/>
            <a:chOff x="0" y="0"/>
            <a:chExt cx="3438144" cy="131673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38144" cy="1316736"/>
            </a:xfrm>
            <a:custGeom>
              <a:avLst/>
              <a:gdLst/>
              <a:ahLst/>
              <a:cxnLst/>
              <a:rect l="l" t="t" r="r" b="b"/>
              <a:pathLst>
                <a:path w="3438144" h="1316736">
                  <a:moveTo>
                    <a:pt x="0" y="0"/>
                  </a:moveTo>
                  <a:lnTo>
                    <a:pt x="3438144" y="0"/>
                  </a:lnTo>
                  <a:lnTo>
                    <a:pt x="343814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7" b="-87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438144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Anonymous &amp; Confidential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Empathetic Support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Guided Reflection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115544" y="1594104"/>
            <a:ext cx="4419600" cy="3870960"/>
            <a:chOff x="0" y="0"/>
            <a:chExt cx="5892800" cy="5161280"/>
          </a:xfrm>
        </p:grpSpPr>
        <p:sp>
          <p:nvSpPr>
            <p:cNvPr id="60" name="Freeform 60"/>
            <p:cNvSpPr/>
            <p:nvPr/>
          </p:nvSpPr>
          <p:spPr>
            <a:xfrm>
              <a:off x="20320" y="20320"/>
              <a:ext cx="5852160" cy="5120640"/>
            </a:xfrm>
            <a:custGeom>
              <a:avLst/>
              <a:gdLst/>
              <a:ahLst/>
              <a:cxnLst/>
              <a:rect l="l" t="t" r="r" b="b"/>
              <a:pathLst>
                <a:path w="5852160" h="5120640">
                  <a:moveTo>
                    <a:pt x="0" y="0"/>
                  </a:moveTo>
                  <a:lnTo>
                    <a:pt x="5852160" y="0"/>
                  </a:lnTo>
                  <a:lnTo>
                    <a:pt x="58521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5892800" cy="5161280"/>
            </a:xfrm>
            <a:custGeom>
              <a:avLst/>
              <a:gdLst/>
              <a:ahLst/>
              <a:cxnLst/>
              <a:rect l="l" t="t" r="r" b="b"/>
              <a:pathLst>
                <a:path w="5892800" h="5161280">
                  <a:moveTo>
                    <a:pt x="20320" y="0"/>
                  </a:moveTo>
                  <a:lnTo>
                    <a:pt x="5872480" y="0"/>
                  </a:lnTo>
                  <a:cubicBezTo>
                    <a:pt x="5883656" y="0"/>
                    <a:pt x="5892800" y="9144"/>
                    <a:pt x="5892800" y="20320"/>
                  </a:cubicBezTo>
                  <a:lnTo>
                    <a:pt x="5892800" y="5140960"/>
                  </a:lnTo>
                  <a:cubicBezTo>
                    <a:pt x="5892800" y="5152136"/>
                    <a:pt x="5883656" y="5161280"/>
                    <a:pt x="5872480" y="5161280"/>
                  </a:cubicBezTo>
                  <a:lnTo>
                    <a:pt x="20320" y="5161280"/>
                  </a:lnTo>
                  <a:cubicBezTo>
                    <a:pt x="9144" y="5161280"/>
                    <a:pt x="0" y="5152136"/>
                    <a:pt x="0" y="51409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5140960"/>
                  </a:lnTo>
                  <a:lnTo>
                    <a:pt x="20320" y="5140960"/>
                  </a:lnTo>
                  <a:lnTo>
                    <a:pt x="20320" y="5120640"/>
                  </a:lnTo>
                  <a:lnTo>
                    <a:pt x="5872480" y="5120640"/>
                  </a:lnTo>
                  <a:lnTo>
                    <a:pt x="5872480" y="5140960"/>
                  </a:lnTo>
                  <a:lnTo>
                    <a:pt x="5852160" y="5140960"/>
                  </a:lnTo>
                  <a:lnTo>
                    <a:pt x="5852160" y="20320"/>
                  </a:lnTo>
                  <a:lnTo>
                    <a:pt x="5872480" y="20320"/>
                  </a:lnTo>
                  <a:lnTo>
                    <a:pt x="58724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3118087" y="1596647"/>
            <a:ext cx="4414523" cy="98555"/>
            <a:chOff x="0" y="0"/>
            <a:chExt cx="5886031" cy="131407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5852160" cy="97536"/>
            </a:xfrm>
            <a:custGeom>
              <a:avLst/>
              <a:gdLst/>
              <a:ahLst/>
              <a:cxnLst/>
              <a:rect l="l" t="t" r="r" b="b"/>
              <a:pathLst>
                <a:path w="5852160" h="97536">
                  <a:moveTo>
                    <a:pt x="0" y="0"/>
                  </a:moveTo>
                  <a:lnTo>
                    <a:pt x="5852160" y="0"/>
                  </a:lnTo>
                  <a:lnTo>
                    <a:pt x="58521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5885942" cy="131320"/>
            </a:xfrm>
            <a:custGeom>
              <a:avLst/>
              <a:gdLst/>
              <a:ahLst/>
              <a:cxnLst/>
              <a:rect l="l" t="t" r="r" b="b"/>
              <a:pathLst>
                <a:path w="5885942" h="13132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14427"/>
                  </a:lnTo>
                  <a:cubicBezTo>
                    <a:pt x="5885942" y="123825"/>
                    <a:pt x="5878322" y="131318"/>
                    <a:pt x="586905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5869051" y="97536"/>
                  </a:lnTo>
                  <a:lnTo>
                    <a:pt x="5869051" y="114427"/>
                  </a:lnTo>
                  <a:lnTo>
                    <a:pt x="5852160" y="114427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3277088" y="1719072"/>
            <a:ext cx="4169664" cy="512064"/>
            <a:chOff x="0" y="0"/>
            <a:chExt cx="5559552" cy="68275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559552" cy="682752"/>
            </a:xfrm>
            <a:custGeom>
              <a:avLst/>
              <a:gdLst/>
              <a:ahLst/>
              <a:cxnLst/>
              <a:rect l="l" t="t" r="r" b="b"/>
              <a:pathLst>
                <a:path w="5559552" h="682752">
                  <a:moveTo>
                    <a:pt x="0" y="0"/>
                  </a:moveTo>
                  <a:lnTo>
                    <a:pt x="5559552" y="0"/>
                  </a:lnTo>
                  <a:lnTo>
                    <a:pt x="55595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63" b="-10866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55955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Channels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277088" y="2286000"/>
            <a:ext cx="4133088" cy="3035808"/>
            <a:chOff x="0" y="0"/>
            <a:chExt cx="5510784" cy="40477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510784" cy="4047744"/>
            </a:xfrm>
            <a:custGeom>
              <a:avLst/>
              <a:gdLst/>
              <a:ahLst/>
              <a:cxnLst/>
              <a:rect l="l" t="t" r="r" b="b"/>
              <a:pathLst>
                <a:path w="5510784" h="4047744">
                  <a:moveTo>
                    <a:pt x="0" y="0"/>
                  </a:moveTo>
                  <a:lnTo>
                    <a:pt x="5510784" y="0"/>
                  </a:lnTo>
                  <a:lnTo>
                    <a:pt x="5510784" y="4047744"/>
                  </a:lnTo>
                  <a:lnTo>
                    <a:pt x="0" y="4047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240" r="-4424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5510784" cy="4066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/ Website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WhatsApp &amp; Telegram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Media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Campus Partnerships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313176" y="3550920"/>
            <a:ext cx="2865120" cy="1914144"/>
            <a:chOff x="0" y="0"/>
            <a:chExt cx="3820160" cy="2552192"/>
          </a:xfrm>
        </p:grpSpPr>
        <p:sp>
          <p:nvSpPr>
            <p:cNvPr id="72" name="Freeform 72"/>
            <p:cNvSpPr/>
            <p:nvPr/>
          </p:nvSpPr>
          <p:spPr>
            <a:xfrm>
              <a:off x="20320" y="20320"/>
              <a:ext cx="3779520" cy="2511552"/>
            </a:xfrm>
            <a:custGeom>
              <a:avLst/>
              <a:gdLst/>
              <a:ahLst/>
              <a:cxnLst/>
              <a:rect l="l" t="t" r="r" b="b"/>
              <a:pathLst>
                <a:path w="3779520" h="2511552">
                  <a:moveTo>
                    <a:pt x="0" y="0"/>
                  </a:moveTo>
                  <a:lnTo>
                    <a:pt x="3779520" y="0"/>
                  </a:lnTo>
                  <a:lnTo>
                    <a:pt x="3779520" y="2511552"/>
                  </a:lnTo>
                  <a:lnTo>
                    <a:pt x="0" y="25115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3820160" cy="2552192"/>
            </a:xfrm>
            <a:custGeom>
              <a:avLst/>
              <a:gdLst/>
              <a:ahLst/>
              <a:cxnLst/>
              <a:rect l="l" t="t" r="r" b="b"/>
              <a:pathLst>
                <a:path w="3820160" h="2552192">
                  <a:moveTo>
                    <a:pt x="20320" y="0"/>
                  </a:moveTo>
                  <a:lnTo>
                    <a:pt x="3799840" y="0"/>
                  </a:lnTo>
                  <a:cubicBezTo>
                    <a:pt x="3811016" y="0"/>
                    <a:pt x="3820160" y="9144"/>
                    <a:pt x="3820160" y="20320"/>
                  </a:cubicBezTo>
                  <a:lnTo>
                    <a:pt x="3820160" y="2531872"/>
                  </a:lnTo>
                  <a:cubicBezTo>
                    <a:pt x="3820160" y="2543048"/>
                    <a:pt x="3811016" y="2552192"/>
                    <a:pt x="3799840" y="2552192"/>
                  </a:cubicBezTo>
                  <a:lnTo>
                    <a:pt x="20320" y="2552192"/>
                  </a:lnTo>
                  <a:cubicBezTo>
                    <a:pt x="9144" y="2552192"/>
                    <a:pt x="0" y="2543048"/>
                    <a:pt x="0" y="253187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531872"/>
                  </a:lnTo>
                  <a:lnTo>
                    <a:pt x="20320" y="2531872"/>
                  </a:lnTo>
                  <a:lnTo>
                    <a:pt x="20320" y="2511552"/>
                  </a:lnTo>
                  <a:lnTo>
                    <a:pt x="3799840" y="2511552"/>
                  </a:lnTo>
                  <a:lnTo>
                    <a:pt x="3799840" y="2531872"/>
                  </a:lnTo>
                  <a:lnTo>
                    <a:pt x="3779520" y="2531872"/>
                  </a:lnTo>
                  <a:lnTo>
                    <a:pt x="3779520" y="20320"/>
                  </a:lnTo>
                  <a:lnTo>
                    <a:pt x="3799840" y="20320"/>
                  </a:lnTo>
                  <a:lnTo>
                    <a:pt x="37998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3315719" y="3553463"/>
            <a:ext cx="2860043" cy="98555"/>
            <a:chOff x="0" y="0"/>
            <a:chExt cx="3813391" cy="131407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3779520" cy="97536"/>
            </a:xfrm>
            <a:custGeom>
              <a:avLst/>
              <a:gdLst/>
              <a:ahLst/>
              <a:cxnLst/>
              <a:rect l="l" t="t" r="r" b="b"/>
              <a:pathLst>
                <a:path w="3779520" h="97536">
                  <a:moveTo>
                    <a:pt x="0" y="0"/>
                  </a:moveTo>
                  <a:lnTo>
                    <a:pt x="3779520" y="0"/>
                  </a:lnTo>
                  <a:lnTo>
                    <a:pt x="3779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3813302" cy="131320"/>
            </a:xfrm>
            <a:custGeom>
              <a:avLst/>
              <a:gdLst/>
              <a:ahLst/>
              <a:cxnLst/>
              <a:rect l="l" t="t" r="r" b="b"/>
              <a:pathLst>
                <a:path w="3813302" h="131320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14427"/>
                  </a:lnTo>
                  <a:cubicBezTo>
                    <a:pt x="3813302" y="123825"/>
                    <a:pt x="3805682" y="131318"/>
                    <a:pt x="37964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796411" y="97536"/>
                  </a:lnTo>
                  <a:lnTo>
                    <a:pt x="3796411" y="114427"/>
                  </a:lnTo>
                  <a:lnTo>
                    <a:pt x="3779520" y="114427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3474720" y="3675888"/>
            <a:ext cx="2615184" cy="512064"/>
            <a:chOff x="0" y="0"/>
            <a:chExt cx="3486912" cy="68275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486912" cy="682752"/>
            </a:xfrm>
            <a:custGeom>
              <a:avLst/>
              <a:gdLst/>
              <a:ahLst/>
              <a:cxnLst/>
              <a:rect l="l" t="t" r="r" b="b"/>
              <a:pathLst>
                <a:path w="3486912" h="682752">
                  <a:moveTo>
                    <a:pt x="0" y="0"/>
                  </a:moveTo>
                  <a:lnTo>
                    <a:pt x="3486912" y="0"/>
                  </a:lnTo>
                  <a:lnTo>
                    <a:pt x="3486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12" b="-49512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4869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Resources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474720" y="4242816"/>
            <a:ext cx="2578608" cy="1078992"/>
            <a:chOff x="0" y="0"/>
            <a:chExt cx="3438144" cy="143865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438144" cy="1438656"/>
            </a:xfrm>
            <a:custGeom>
              <a:avLst/>
              <a:gdLst/>
              <a:ahLst/>
              <a:cxnLst/>
              <a:rect l="l" t="t" r="r" b="b"/>
              <a:pathLst>
                <a:path w="3438144" h="1438656">
                  <a:moveTo>
                    <a:pt x="0" y="0"/>
                  </a:moveTo>
                  <a:lnTo>
                    <a:pt x="3438144" y="0"/>
                  </a:lnTo>
                  <a:lnTo>
                    <a:pt x="3438144" y="1438656"/>
                  </a:lnTo>
                  <a:lnTo>
                    <a:pt x="0" y="1438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87" r="-368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3438144" cy="1457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&amp; ML Tech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 Experts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Moderators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134600" y="3550920"/>
            <a:ext cx="2865120" cy="1914144"/>
            <a:chOff x="0" y="0"/>
            <a:chExt cx="3820160" cy="2552192"/>
          </a:xfrm>
        </p:grpSpPr>
        <p:sp>
          <p:nvSpPr>
            <p:cNvPr id="84" name="Freeform 84"/>
            <p:cNvSpPr/>
            <p:nvPr/>
          </p:nvSpPr>
          <p:spPr>
            <a:xfrm>
              <a:off x="20320" y="20320"/>
              <a:ext cx="3779520" cy="2511552"/>
            </a:xfrm>
            <a:custGeom>
              <a:avLst/>
              <a:gdLst/>
              <a:ahLst/>
              <a:cxnLst/>
              <a:rect l="l" t="t" r="r" b="b"/>
              <a:pathLst>
                <a:path w="3779520" h="2511552">
                  <a:moveTo>
                    <a:pt x="0" y="0"/>
                  </a:moveTo>
                  <a:lnTo>
                    <a:pt x="3779520" y="0"/>
                  </a:lnTo>
                  <a:lnTo>
                    <a:pt x="3779520" y="2511552"/>
                  </a:lnTo>
                  <a:lnTo>
                    <a:pt x="0" y="25115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3820160" cy="2552192"/>
            </a:xfrm>
            <a:custGeom>
              <a:avLst/>
              <a:gdLst/>
              <a:ahLst/>
              <a:cxnLst/>
              <a:rect l="l" t="t" r="r" b="b"/>
              <a:pathLst>
                <a:path w="3820160" h="2552192">
                  <a:moveTo>
                    <a:pt x="20320" y="0"/>
                  </a:moveTo>
                  <a:lnTo>
                    <a:pt x="3799840" y="0"/>
                  </a:lnTo>
                  <a:cubicBezTo>
                    <a:pt x="3811016" y="0"/>
                    <a:pt x="3820160" y="9144"/>
                    <a:pt x="3820160" y="20320"/>
                  </a:cubicBezTo>
                  <a:lnTo>
                    <a:pt x="3820160" y="2531872"/>
                  </a:lnTo>
                  <a:cubicBezTo>
                    <a:pt x="3820160" y="2543048"/>
                    <a:pt x="3811016" y="2552192"/>
                    <a:pt x="3799840" y="2552192"/>
                  </a:cubicBezTo>
                  <a:lnTo>
                    <a:pt x="20320" y="2552192"/>
                  </a:lnTo>
                  <a:cubicBezTo>
                    <a:pt x="9144" y="2552192"/>
                    <a:pt x="0" y="2543048"/>
                    <a:pt x="0" y="253187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531872"/>
                  </a:lnTo>
                  <a:lnTo>
                    <a:pt x="20320" y="2531872"/>
                  </a:lnTo>
                  <a:lnTo>
                    <a:pt x="20320" y="2511552"/>
                  </a:lnTo>
                  <a:lnTo>
                    <a:pt x="3799840" y="2511552"/>
                  </a:lnTo>
                  <a:lnTo>
                    <a:pt x="3799840" y="2531872"/>
                  </a:lnTo>
                  <a:lnTo>
                    <a:pt x="3779520" y="2531872"/>
                  </a:lnTo>
                  <a:lnTo>
                    <a:pt x="3779520" y="20320"/>
                  </a:lnTo>
                  <a:lnTo>
                    <a:pt x="3799840" y="20320"/>
                  </a:lnTo>
                  <a:lnTo>
                    <a:pt x="37998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B54FC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0137143" y="3553463"/>
            <a:ext cx="2860043" cy="98555"/>
            <a:chOff x="0" y="0"/>
            <a:chExt cx="3813391" cy="131407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3779520" cy="97536"/>
            </a:xfrm>
            <a:custGeom>
              <a:avLst/>
              <a:gdLst/>
              <a:ahLst/>
              <a:cxnLst/>
              <a:rect l="l" t="t" r="r" b="b"/>
              <a:pathLst>
                <a:path w="3779520" h="97536">
                  <a:moveTo>
                    <a:pt x="0" y="0"/>
                  </a:moveTo>
                  <a:lnTo>
                    <a:pt x="3779520" y="0"/>
                  </a:lnTo>
                  <a:lnTo>
                    <a:pt x="3779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B54FCF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3813302" cy="131320"/>
            </a:xfrm>
            <a:custGeom>
              <a:avLst/>
              <a:gdLst/>
              <a:ahLst/>
              <a:cxnLst/>
              <a:rect l="l" t="t" r="r" b="b"/>
              <a:pathLst>
                <a:path w="3813302" h="131320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14427"/>
                  </a:lnTo>
                  <a:cubicBezTo>
                    <a:pt x="3813302" y="123825"/>
                    <a:pt x="3805682" y="131318"/>
                    <a:pt x="37964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796411" y="97536"/>
                  </a:lnTo>
                  <a:lnTo>
                    <a:pt x="3796411" y="114427"/>
                  </a:lnTo>
                  <a:lnTo>
                    <a:pt x="3779520" y="114427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54FCF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0296144" y="3675888"/>
            <a:ext cx="2615184" cy="512064"/>
            <a:chOff x="0" y="0"/>
            <a:chExt cx="3486912" cy="68275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486912" cy="682752"/>
            </a:xfrm>
            <a:custGeom>
              <a:avLst/>
              <a:gdLst/>
              <a:ahLst/>
              <a:cxnLst/>
              <a:rect l="l" t="t" r="r" b="b"/>
              <a:pathLst>
                <a:path w="3486912" h="682752">
                  <a:moveTo>
                    <a:pt x="0" y="0"/>
                  </a:moveTo>
                  <a:lnTo>
                    <a:pt x="3486912" y="0"/>
                  </a:lnTo>
                  <a:lnTo>
                    <a:pt x="3486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12" b="-49512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34869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B54F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Structure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296144" y="4242816"/>
            <a:ext cx="2578608" cy="1078992"/>
            <a:chOff x="0" y="0"/>
            <a:chExt cx="3438144" cy="143865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438144" cy="1438656"/>
            </a:xfrm>
            <a:custGeom>
              <a:avLst/>
              <a:gdLst/>
              <a:ahLst/>
              <a:cxnLst/>
              <a:rect l="l" t="t" r="r" b="b"/>
              <a:pathLst>
                <a:path w="3438144" h="1438656">
                  <a:moveTo>
                    <a:pt x="0" y="0"/>
                  </a:moveTo>
                  <a:lnTo>
                    <a:pt x="3438144" y="0"/>
                  </a:lnTo>
                  <a:lnTo>
                    <a:pt x="3438144" y="1438656"/>
                  </a:lnTo>
                  <a:lnTo>
                    <a:pt x="0" y="1438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87" r="-3687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3438144" cy="1457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R&amp;D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 Infra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Moderation &amp; Safety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13944" y="5580888"/>
            <a:ext cx="8351520" cy="2407920"/>
            <a:chOff x="0" y="0"/>
            <a:chExt cx="11135360" cy="3210560"/>
          </a:xfrm>
        </p:grpSpPr>
        <p:sp>
          <p:nvSpPr>
            <p:cNvPr id="96" name="Freeform 96"/>
            <p:cNvSpPr/>
            <p:nvPr/>
          </p:nvSpPr>
          <p:spPr>
            <a:xfrm>
              <a:off x="20320" y="20320"/>
              <a:ext cx="11094720" cy="3169920"/>
            </a:xfrm>
            <a:custGeom>
              <a:avLst/>
              <a:gdLst/>
              <a:ahLst/>
              <a:cxnLst/>
              <a:rect l="l" t="t" r="r" b="b"/>
              <a:pathLst>
                <a:path w="11094720" h="3169920">
                  <a:moveTo>
                    <a:pt x="0" y="0"/>
                  </a:moveTo>
                  <a:lnTo>
                    <a:pt x="11094720" y="0"/>
                  </a:lnTo>
                  <a:lnTo>
                    <a:pt x="110947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11135360" cy="3210560"/>
            </a:xfrm>
            <a:custGeom>
              <a:avLst/>
              <a:gdLst/>
              <a:ahLst/>
              <a:cxnLst/>
              <a:rect l="l" t="t" r="r" b="b"/>
              <a:pathLst>
                <a:path w="11135360" h="32105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190240"/>
                  </a:lnTo>
                  <a:cubicBezTo>
                    <a:pt x="11135360" y="3201416"/>
                    <a:pt x="11126216" y="3210560"/>
                    <a:pt x="11115040" y="3210560"/>
                  </a:cubicBezTo>
                  <a:lnTo>
                    <a:pt x="20320" y="3210560"/>
                  </a:lnTo>
                  <a:cubicBezTo>
                    <a:pt x="9144" y="3210560"/>
                    <a:pt x="0" y="3201416"/>
                    <a:pt x="0" y="319024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190240"/>
                  </a:lnTo>
                  <a:lnTo>
                    <a:pt x="20320" y="3190240"/>
                  </a:lnTo>
                  <a:lnTo>
                    <a:pt x="20320" y="3169920"/>
                  </a:lnTo>
                  <a:lnTo>
                    <a:pt x="11115040" y="3169920"/>
                  </a:lnTo>
                  <a:lnTo>
                    <a:pt x="11115040" y="3190240"/>
                  </a:lnTo>
                  <a:lnTo>
                    <a:pt x="11094720" y="319024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4A2080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316487" y="5583431"/>
            <a:ext cx="8346443" cy="98555"/>
            <a:chOff x="0" y="0"/>
            <a:chExt cx="11128591" cy="131407"/>
          </a:xfrm>
        </p:grpSpPr>
        <p:sp>
          <p:nvSpPr>
            <p:cNvPr id="99" name="Freeform 99"/>
            <p:cNvSpPr/>
            <p:nvPr/>
          </p:nvSpPr>
          <p:spPr>
            <a:xfrm>
              <a:off x="16891" y="16891"/>
              <a:ext cx="11094720" cy="97536"/>
            </a:xfrm>
            <a:custGeom>
              <a:avLst/>
              <a:gdLst/>
              <a:ahLst/>
              <a:cxnLst/>
              <a:rect l="l" t="t" r="r" b="b"/>
              <a:pathLst>
                <a:path w="11094720" h="97536">
                  <a:moveTo>
                    <a:pt x="0" y="0"/>
                  </a:moveTo>
                  <a:lnTo>
                    <a:pt x="11094720" y="0"/>
                  </a:lnTo>
                  <a:lnTo>
                    <a:pt x="110947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4A2080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11128501" cy="131320"/>
            </a:xfrm>
            <a:custGeom>
              <a:avLst/>
              <a:gdLst/>
              <a:ahLst/>
              <a:cxnLst/>
              <a:rect l="l" t="t" r="r" b="b"/>
              <a:pathLst>
                <a:path w="11128501" h="13132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4427"/>
                  </a:lnTo>
                  <a:cubicBezTo>
                    <a:pt x="11128501" y="123825"/>
                    <a:pt x="11120882" y="131318"/>
                    <a:pt x="111116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111611" y="97536"/>
                  </a:lnTo>
                  <a:lnTo>
                    <a:pt x="11111611" y="114427"/>
                  </a:lnTo>
                  <a:lnTo>
                    <a:pt x="11094720" y="114427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2080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475488" y="5705856"/>
            <a:ext cx="8101584" cy="512064"/>
            <a:chOff x="0" y="0"/>
            <a:chExt cx="10802112" cy="68275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0802112" cy="682752"/>
            </a:xfrm>
            <a:custGeom>
              <a:avLst/>
              <a:gdLst/>
              <a:ahLst/>
              <a:cxnLst/>
              <a:rect l="l" t="t" r="r" b="b"/>
              <a:pathLst>
                <a:path w="10802112" h="682752">
                  <a:moveTo>
                    <a:pt x="0" y="0"/>
                  </a:moveTo>
                  <a:lnTo>
                    <a:pt x="10802112" y="0"/>
                  </a:lnTo>
                  <a:lnTo>
                    <a:pt x="108021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81" b="-258281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10802112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4A2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Breakdown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475488" y="6272784"/>
            <a:ext cx="8065008" cy="1572768"/>
            <a:chOff x="0" y="0"/>
            <a:chExt cx="10753344" cy="209702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0753344" cy="2097024"/>
            </a:xfrm>
            <a:custGeom>
              <a:avLst/>
              <a:gdLst/>
              <a:ahLst/>
              <a:cxnLst/>
              <a:rect l="l" t="t" r="r" b="b"/>
              <a:pathLst>
                <a:path w="10753344" h="2097024">
                  <a:moveTo>
                    <a:pt x="0" y="0"/>
                  </a:moveTo>
                  <a:lnTo>
                    <a:pt x="10753344" y="0"/>
                  </a:lnTo>
                  <a:lnTo>
                    <a:pt x="10753344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917" b="-4991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10753344" cy="2116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71"/>
                </a:lnSpc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Development 40%  |  Platform Infra 25%  |  Marketing 20%  |  Operations 15%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799576" y="5580888"/>
            <a:ext cx="8735568" cy="2407920"/>
            <a:chOff x="0" y="0"/>
            <a:chExt cx="11647424" cy="3210560"/>
          </a:xfrm>
        </p:grpSpPr>
        <p:sp>
          <p:nvSpPr>
            <p:cNvPr id="108" name="Freeform 108"/>
            <p:cNvSpPr/>
            <p:nvPr/>
          </p:nvSpPr>
          <p:spPr>
            <a:xfrm>
              <a:off x="20320" y="20320"/>
              <a:ext cx="11606784" cy="3169920"/>
            </a:xfrm>
            <a:custGeom>
              <a:avLst/>
              <a:gdLst/>
              <a:ahLst/>
              <a:cxnLst/>
              <a:rect l="l" t="t" r="r" b="b"/>
              <a:pathLst>
                <a:path w="11606784" h="3169920">
                  <a:moveTo>
                    <a:pt x="0" y="0"/>
                  </a:moveTo>
                  <a:lnTo>
                    <a:pt x="11606784" y="0"/>
                  </a:lnTo>
                  <a:lnTo>
                    <a:pt x="1160678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9" name="Freeform 109"/>
            <p:cNvSpPr/>
            <p:nvPr/>
          </p:nvSpPr>
          <p:spPr>
            <a:xfrm>
              <a:off x="0" y="0"/>
              <a:ext cx="11647424" cy="3210560"/>
            </a:xfrm>
            <a:custGeom>
              <a:avLst/>
              <a:gdLst/>
              <a:ahLst/>
              <a:cxnLst/>
              <a:rect l="l" t="t" r="r" b="b"/>
              <a:pathLst>
                <a:path w="11647424" h="3210560">
                  <a:moveTo>
                    <a:pt x="20320" y="0"/>
                  </a:moveTo>
                  <a:lnTo>
                    <a:pt x="11627104" y="0"/>
                  </a:lnTo>
                  <a:cubicBezTo>
                    <a:pt x="11638280" y="0"/>
                    <a:pt x="11647424" y="9144"/>
                    <a:pt x="11647424" y="20320"/>
                  </a:cubicBezTo>
                  <a:lnTo>
                    <a:pt x="11647424" y="3190240"/>
                  </a:lnTo>
                  <a:cubicBezTo>
                    <a:pt x="11647424" y="3201416"/>
                    <a:pt x="11638280" y="3210560"/>
                    <a:pt x="11627104" y="3210560"/>
                  </a:cubicBezTo>
                  <a:lnTo>
                    <a:pt x="20320" y="3210560"/>
                  </a:lnTo>
                  <a:cubicBezTo>
                    <a:pt x="9144" y="3210560"/>
                    <a:pt x="0" y="3201416"/>
                    <a:pt x="0" y="319024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190240"/>
                  </a:lnTo>
                  <a:lnTo>
                    <a:pt x="20320" y="3190240"/>
                  </a:lnTo>
                  <a:lnTo>
                    <a:pt x="20320" y="3169920"/>
                  </a:lnTo>
                  <a:lnTo>
                    <a:pt x="11627104" y="3169920"/>
                  </a:lnTo>
                  <a:lnTo>
                    <a:pt x="11627104" y="3190240"/>
                  </a:lnTo>
                  <a:lnTo>
                    <a:pt x="11606785" y="3190240"/>
                  </a:lnTo>
                  <a:lnTo>
                    <a:pt x="11606785" y="20320"/>
                  </a:lnTo>
                  <a:lnTo>
                    <a:pt x="11627104" y="20320"/>
                  </a:lnTo>
                  <a:lnTo>
                    <a:pt x="11627104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10" name="Group 110"/>
          <p:cNvGrpSpPr/>
          <p:nvPr/>
        </p:nvGrpSpPr>
        <p:grpSpPr>
          <a:xfrm>
            <a:off x="8802119" y="5583431"/>
            <a:ext cx="8730491" cy="98555"/>
            <a:chOff x="0" y="0"/>
            <a:chExt cx="11640655" cy="131407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11606784" cy="97536"/>
            </a:xfrm>
            <a:custGeom>
              <a:avLst/>
              <a:gdLst/>
              <a:ahLst/>
              <a:cxnLst/>
              <a:rect l="l" t="t" r="r" b="b"/>
              <a:pathLst>
                <a:path w="11606784" h="97536">
                  <a:moveTo>
                    <a:pt x="0" y="0"/>
                  </a:moveTo>
                  <a:lnTo>
                    <a:pt x="11606784" y="0"/>
                  </a:lnTo>
                  <a:lnTo>
                    <a:pt x="11606784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11640566" cy="131320"/>
            </a:xfrm>
            <a:custGeom>
              <a:avLst/>
              <a:gdLst/>
              <a:ahLst/>
              <a:cxnLst/>
              <a:rect l="l" t="t" r="r" b="b"/>
              <a:pathLst>
                <a:path w="11640566" h="131320">
                  <a:moveTo>
                    <a:pt x="16891" y="0"/>
                  </a:moveTo>
                  <a:lnTo>
                    <a:pt x="11623675" y="0"/>
                  </a:lnTo>
                  <a:cubicBezTo>
                    <a:pt x="11633073" y="0"/>
                    <a:pt x="11640566" y="7620"/>
                    <a:pt x="11640566" y="16891"/>
                  </a:cubicBezTo>
                  <a:lnTo>
                    <a:pt x="11640566" y="114427"/>
                  </a:lnTo>
                  <a:cubicBezTo>
                    <a:pt x="11640566" y="123825"/>
                    <a:pt x="11632946" y="131318"/>
                    <a:pt x="11623675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623675" y="97536"/>
                  </a:lnTo>
                  <a:lnTo>
                    <a:pt x="11623675" y="114427"/>
                  </a:lnTo>
                  <a:lnTo>
                    <a:pt x="11606784" y="114427"/>
                  </a:lnTo>
                  <a:lnTo>
                    <a:pt x="11606784" y="16891"/>
                  </a:lnTo>
                  <a:lnTo>
                    <a:pt x="11623675" y="16891"/>
                  </a:lnTo>
                  <a:lnTo>
                    <a:pt x="116236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8961120" y="5705856"/>
            <a:ext cx="8485632" cy="512064"/>
            <a:chOff x="0" y="0"/>
            <a:chExt cx="11314176" cy="682752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1314176" cy="682752"/>
            </a:xfrm>
            <a:custGeom>
              <a:avLst/>
              <a:gdLst/>
              <a:ahLst/>
              <a:cxnLst/>
              <a:rect l="l" t="t" r="r" b="b"/>
              <a:pathLst>
                <a:path w="11314176" h="682752">
                  <a:moveTo>
                    <a:pt x="0" y="0"/>
                  </a:moveTo>
                  <a:lnTo>
                    <a:pt x="11314176" y="0"/>
                  </a:lnTo>
                  <a:lnTo>
                    <a:pt x="113141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2894" b="-272894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11314176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F4D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Streams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961120" y="6272784"/>
            <a:ext cx="8449056" cy="1572768"/>
            <a:chOff x="0" y="0"/>
            <a:chExt cx="11265408" cy="209702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265408" cy="2097024"/>
            </a:xfrm>
            <a:custGeom>
              <a:avLst/>
              <a:gdLst/>
              <a:ahLst/>
              <a:cxnLst/>
              <a:rect l="l" t="t" r="r" b="b"/>
              <a:pathLst>
                <a:path w="11265408" h="2097024">
                  <a:moveTo>
                    <a:pt x="0" y="0"/>
                  </a:moveTo>
                  <a:lnTo>
                    <a:pt x="11265408" y="0"/>
                  </a:lnTo>
                  <a:lnTo>
                    <a:pt x="11265408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675" b="-54675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11265408" cy="2116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Subscriptions ₹99–₹299/mo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1-on-1 Expert Sessions ₹499+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Workshops &amp; Webinars</a:t>
              </a:r>
            </a:p>
            <a:p>
              <a:pPr marL="376428" lvl="1" indent="-188214" algn="l">
                <a:lnSpc>
                  <a:spcPts val="1871"/>
                </a:lnSpc>
                <a:buFont typeface="Arial"/>
                <a:buChar char="•"/>
              </a:pPr>
              <a:r>
                <a:rPr lang="en-US" sz="1559">
                  <a:solidFill>
                    <a:srgbClr val="4A2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B2B Corporate Wellness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5943" y="261623"/>
            <a:ext cx="8255003" cy="9718043"/>
            <a:chOff x="0" y="0"/>
            <a:chExt cx="11006671" cy="129573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0972800" cy="12923520"/>
            </a:xfrm>
            <a:custGeom>
              <a:avLst/>
              <a:gdLst/>
              <a:ahLst/>
              <a:cxnLst/>
              <a:rect l="l" t="t" r="r" b="b"/>
              <a:pathLst>
                <a:path w="10972800" h="12923520">
                  <a:moveTo>
                    <a:pt x="0" y="0"/>
                  </a:moveTo>
                  <a:lnTo>
                    <a:pt x="10972800" y="0"/>
                  </a:lnTo>
                  <a:lnTo>
                    <a:pt x="10972800" y="12923520"/>
                  </a:lnTo>
                  <a:lnTo>
                    <a:pt x="0" y="1292352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1006582" cy="12957302"/>
            </a:xfrm>
            <a:custGeom>
              <a:avLst/>
              <a:gdLst/>
              <a:ahLst/>
              <a:cxnLst/>
              <a:rect l="l" t="t" r="r" b="b"/>
              <a:pathLst>
                <a:path w="11006582" h="1295730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940411"/>
                  </a:lnTo>
                  <a:cubicBezTo>
                    <a:pt x="11006582" y="12949809"/>
                    <a:pt x="10998962" y="12957302"/>
                    <a:pt x="10989691" y="12957302"/>
                  </a:cubicBezTo>
                  <a:lnTo>
                    <a:pt x="16891" y="12957302"/>
                  </a:lnTo>
                  <a:cubicBezTo>
                    <a:pt x="7493" y="12957302"/>
                    <a:pt x="0" y="12949682"/>
                    <a:pt x="0" y="12940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940411"/>
                  </a:lnTo>
                  <a:lnTo>
                    <a:pt x="16891" y="12940411"/>
                  </a:lnTo>
                  <a:lnTo>
                    <a:pt x="16891" y="12923520"/>
                  </a:lnTo>
                  <a:lnTo>
                    <a:pt x="10989691" y="12923520"/>
                  </a:lnTo>
                  <a:lnTo>
                    <a:pt x="10989691" y="12940411"/>
                  </a:lnTo>
                  <a:lnTo>
                    <a:pt x="10972800" y="12940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35943" y="261623"/>
            <a:ext cx="8255003" cy="939803"/>
            <a:chOff x="0" y="0"/>
            <a:chExt cx="11006671" cy="12530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0972800" cy="1219200"/>
            </a:xfrm>
            <a:custGeom>
              <a:avLst/>
              <a:gdLst/>
              <a:ahLst/>
              <a:cxnLst/>
              <a:rect l="l" t="t" r="r" b="b"/>
              <a:pathLst>
                <a:path w="10972800" h="12192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1006582" cy="1252984"/>
            </a:xfrm>
            <a:custGeom>
              <a:avLst/>
              <a:gdLst/>
              <a:ahLst/>
              <a:cxnLst/>
              <a:rect l="l" t="t" r="r" b="b"/>
              <a:pathLst>
                <a:path w="11006582" h="1252984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36091"/>
                  </a:lnTo>
                  <a:cubicBezTo>
                    <a:pt x="11006582" y="1245489"/>
                    <a:pt x="10998962" y="1252982"/>
                    <a:pt x="10989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989691" y="1219200"/>
                  </a:lnTo>
                  <a:lnTo>
                    <a:pt x="10989691" y="1236091"/>
                  </a:lnTo>
                  <a:lnTo>
                    <a:pt x="10972800" y="1236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C22D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274320"/>
            <a:ext cx="7680960" cy="914400"/>
            <a:chOff x="0" y="0"/>
            <a:chExt cx="1024128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1280" cy="1219200"/>
            </a:xfrm>
            <a:custGeom>
              <a:avLst/>
              <a:gdLst/>
              <a:ahLst/>
              <a:cxnLst/>
              <a:rect l="l" t="t" r="r" b="b"/>
              <a:pathLst>
                <a:path w="10241280" h="121920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Target Customers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2797" y="1544317"/>
            <a:ext cx="7701277" cy="2397757"/>
            <a:chOff x="0" y="0"/>
            <a:chExt cx="10268369" cy="3197009"/>
          </a:xfrm>
        </p:grpSpPr>
        <p:sp>
          <p:nvSpPr>
            <p:cNvPr id="15" name="Freeform 15"/>
            <p:cNvSpPr/>
            <p:nvPr/>
          </p:nvSpPr>
          <p:spPr>
            <a:xfrm>
              <a:off x="13589" y="13589"/>
              <a:ext cx="10241280" cy="3169920"/>
            </a:xfrm>
            <a:custGeom>
              <a:avLst/>
              <a:gdLst/>
              <a:ahLst/>
              <a:cxnLst/>
              <a:rect l="l" t="t" r="r" b="b"/>
              <a:pathLst>
                <a:path w="10241280" h="3169920">
                  <a:moveTo>
                    <a:pt x="0" y="0"/>
                  </a:moveTo>
                  <a:lnTo>
                    <a:pt x="10241280" y="0"/>
                  </a:lnTo>
                  <a:lnTo>
                    <a:pt x="10241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268458" cy="3197098"/>
            </a:xfrm>
            <a:custGeom>
              <a:avLst/>
              <a:gdLst/>
              <a:ahLst/>
              <a:cxnLst/>
              <a:rect l="l" t="t" r="r" b="b"/>
              <a:pathLst>
                <a:path w="10268458" h="3197098">
                  <a:moveTo>
                    <a:pt x="13589" y="0"/>
                  </a:moveTo>
                  <a:lnTo>
                    <a:pt x="10254869" y="0"/>
                  </a:lnTo>
                  <a:cubicBezTo>
                    <a:pt x="10262362" y="0"/>
                    <a:pt x="10268458" y="6096"/>
                    <a:pt x="10268458" y="13589"/>
                  </a:cubicBezTo>
                  <a:lnTo>
                    <a:pt x="10268458" y="3183509"/>
                  </a:lnTo>
                  <a:cubicBezTo>
                    <a:pt x="10268458" y="3191002"/>
                    <a:pt x="10262362" y="3197098"/>
                    <a:pt x="1025486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10254869" y="3169920"/>
                  </a:lnTo>
                  <a:lnTo>
                    <a:pt x="10254869" y="3183509"/>
                  </a:lnTo>
                  <a:lnTo>
                    <a:pt x="10241280" y="3183509"/>
                  </a:lnTo>
                  <a:lnTo>
                    <a:pt x="10241280" y="13589"/>
                  </a:lnTo>
                  <a:lnTo>
                    <a:pt x="10254869" y="13589"/>
                  </a:lnTo>
                  <a:lnTo>
                    <a:pt x="10254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84583" y="2236727"/>
            <a:ext cx="903227" cy="903227"/>
            <a:chOff x="0" y="0"/>
            <a:chExt cx="1204303" cy="120430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2249424"/>
            <a:ext cx="877824" cy="877824"/>
            <a:chOff x="0" y="0"/>
            <a:chExt cx="1170432" cy="117043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2157984" y="1700784"/>
            <a:ext cx="6126480" cy="640080"/>
            <a:chOff x="0" y="0"/>
            <a:chExt cx="8168640" cy="853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8640" cy="853440"/>
            </a:xfrm>
            <a:custGeom>
              <a:avLst/>
              <a:gdLst/>
              <a:ahLst/>
              <a:cxnLst/>
              <a:rect l="l" t="t" r="r" b="b"/>
              <a:pathLst>
                <a:path w="8168640" h="853440">
                  <a:moveTo>
                    <a:pt x="0" y="0"/>
                  </a:moveTo>
                  <a:lnTo>
                    <a:pt x="8168640" y="0"/>
                  </a:lnTo>
                  <a:lnTo>
                    <a:pt x="8168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499" b="-13649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1686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Young Couples (18–28)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57984" y="2432304"/>
            <a:ext cx="6126480" cy="1316736"/>
            <a:chOff x="0" y="0"/>
            <a:chExt cx="8168640" cy="17556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68640" cy="1755648"/>
            </a:xfrm>
            <a:custGeom>
              <a:avLst/>
              <a:gdLst/>
              <a:ahLst/>
              <a:cxnLst/>
              <a:rect l="l" t="t" r="r" b="b"/>
              <a:pathLst>
                <a:path w="8168640" h="1755648">
                  <a:moveTo>
                    <a:pt x="0" y="0"/>
                  </a:moveTo>
                  <a:lnTo>
                    <a:pt x="8168640" y="0"/>
                  </a:lnTo>
                  <a:lnTo>
                    <a:pt x="8168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8168640" cy="1860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Dating &amp; early relationship stage</a:t>
              </a:r>
            </a:p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smartphone usage, low income tolerance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2797" y="4250941"/>
            <a:ext cx="7701277" cy="2397757"/>
            <a:chOff x="0" y="0"/>
            <a:chExt cx="10268369" cy="3197009"/>
          </a:xfrm>
        </p:grpSpPr>
        <p:sp>
          <p:nvSpPr>
            <p:cNvPr id="29" name="Freeform 29"/>
            <p:cNvSpPr/>
            <p:nvPr/>
          </p:nvSpPr>
          <p:spPr>
            <a:xfrm>
              <a:off x="13589" y="13589"/>
              <a:ext cx="10241280" cy="3169920"/>
            </a:xfrm>
            <a:custGeom>
              <a:avLst/>
              <a:gdLst/>
              <a:ahLst/>
              <a:cxnLst/>
              <a:rect l="l" t="t" r="r" b="b"/>
              <a:pathLst>
                <a:path w="10241280" h="3169920">
                  <a:moveTo>
                    <a:pt x="0" y="0"/>
                  </a:moveTo>
                  <a:lnTo>
                    <a:pt x="10241280" y="0"/>
                  </a:lnTo>
                  <a:lnTo>
                    <a:pt x="10241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268458" cy="3197098"/>
            </a:xfrm>
            <a:custGeom>
              <a:avLst/>
              <a:gdLst/>
              <a:ahLst/>
              <a:cxnLst/>
              <a:rect l="l" t="t" r="r" b="b"/>
              <a:pathLst>
                <a:path w="10268458" h="3197098">
                  <a:moveTo>
                    <a:pt x="13589" y="0"/>
                  </a:moveTo>
                  <a:lnTo>
                    <a:pt x="10254869" y="0"/>
                  </a:lnTo>
                  <a:cubicBezTo>
                    <a:pt x="10262362" y="0"/>
                    <a:pt x="10268458" y="6096"/>
                    <a:pt x="10268458" y="13589"/>
                  </a:cubicBezTo>
                  <a:lnTo>
                    <a:pt x="10268458" y="3183509"/>
                  </a:lnTo>
                  <a:cubicBezTo>
                    <a:pt x="10268458" y="3191002"/>
                    <a:pt x="10262362" y="3197098"/>
                    <a:pt x="1025486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10254869" y="3169920"/>
                  </a:lnTo>
                  <a:lnTo>
                    <a:pt x="10254869" y="3183509"/>
                  </a:lnTo>
                  <a:lnTo>
                    <a:pt x="10241280" y="3183509"/>
                  </a:lnTo>
                  <a:lnTo>
                    <a:pt x="10241280" y="13589"/>
                  </a:lnTo>
                  <a:lnTo>
                    <a:pt x="10254869" y="13589"/>
                  </a:lnTo>
                  <a:lnTo>
                    <a:pt x="10254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84583" y="4943351"/>
            <a:ext cx="903227" cy="903227"/>
            <a:chOff x="0" y="0"/>
            <a:chExt cx="1204303" cy="1204303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097280" y="4956048"/>
            <a:ext cx="877824" cy="877824"/>
            <a:chOff x="0" y="0"/>
            <a:chExt cx="1170432" cy="1170432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2157984" y="4407408"/>
            <a:ext cx="6126480" cy="640080"/>
            <a:chOff x="0" y="0"/>
            <a:chExt cx="8168640" cy="853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68640" cy="853440"/>
            </a:xfrm>
            <a:custGeom>
              <a:avLst/>
              <a:gdLst/>
              <a:ahLst/>
              <a:cxnLst/>
              <a:rect l="l" t="t" r="r" b="b"/>
              <a:pathLst>
                <a:path w="8168640" h="853440">
                  <a:moveTo>
                    <a:pt x="0" y="0"/>
                  </a:moveTo>
                  <a:lnTo>
                    <a:pt x="8168640" y="0"/>
                  </a:lnTo>
                  <a:lnTo>
                    <a:pt x="8168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499" b="-13649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686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Married Couples (25–40)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157984" y="5138928"/>
            <a:ext cx="6126480" cy="1316736"/>
            <a:chOff x="0" y="0"/>
            <a:chExt cx="8168640" cy="17556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68640" cy="1755648"/>
            </a:xfrm>
            <a:custGeom>
              <a:avLst/>
              <a:gdLst/>
              <a:ahLst/>
              <a:cxnLst/>
              <a:rect l="l" t="t" r="r" b="b"/>
              <a:pathLst>
                <a:path w="8168640" h="1755648">
                  <a:moveTo>
                    <a:pt x="0" y="0"/>
                  </a:moveTo>
                  <a:lnTo>
                    <a:pt x="8168640" y="0"/>
                  </a:lnTo>
                  <a:lnTo>
                    <a:pt x="8168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8168640" cy="1860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Managing career + relationship stress</a:t>
              </a:r>
            </a:p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Willing to pay for premium support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2797" y="6957565"/>
            <a:ext cx="7701277" cy="2397757"/>
            <a:chOff x="0" y="0"/>
            <a:chExt cx="10268369" cy="3197009"/>
          </a:xfrm>
        </p:grpSpPr>
        <p:sp>
          <p:nvSpPr>
            <p:cNvPr id="43" name="Freeform 43"/>
            <p:cNvSpPr/>
            <p:nvPr/>
          </p:nvSpPr>
          <p:spPr>
            <a:xfrm>
              <a:off x="13589" y="13589"/>
              <a:ext cx="10241280" cy="3169920"/>
            </a:xfrm>
            <a:custGeom>
              <a:avLst/>
              <a:gdLst/>
              <a:ahLst/>
              <a:cxnLst/>
              <a:rect l="l" t="t" r="r" b="b"/>
              <a:pathLst>
                <a:path w="10241280" h="3169920">
                  <a:moveTo>
                    <a:pt x="0" y="0"/>
                  </a:moveTo>
                  <a:lnTo>
                    <a:pt x="10241280" y="0"/>
                  </a:lnTo>
                  <a:lnTo>
                    <a:pt x="10241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0268458" cy="3197098"/>
            </a:xfrm>
            <a:custGeom>
              <a:avLst/>
              <a:gdLst/>
              <a:ahLst/>
              <a:cxnLst/>
              <a:rect l="l" t="t" r="r" b="b"/>
              <a:pathLst>
                <a:path w="10268458" h="3197098">
                  <a:moveTo>
                    <a:pt x="13589" y="0"/>
                  </a:moveTo>
                  <a:lnTo>
                    <a:pt x="10254869" y="0"/>
                  </a:lnTo>
                  <a:cubicBezTo>
                    <a:pt x="10262362" y="0"/>
                    <a:pt x="10268458" y="6096"/>
                    <a:pt x="10268458" y="13589"/>
                  </a:cubicBezTo>
                  <a:lnTo>
                    <a:pt x="10268458" y="3183509"/>
                  </a:lnTo>
                  <a:cubicBezTo>
                    <a:pt x="10268458" y="3191002"/>
                    <a:pt x="10262362" y="3197098"/>
                    <a:pt x="1025486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10254869" y="3169920"/>
                  </a:lnTo>
                  <a:lnTo>
                    <a:pt x="10254869" y="3183509"/>
                  </a:lnTo>
                  <a:lnTo>
                    <a:pt x="10241280" y="3183509"/>
                  </a:lnTo>
                  <a:lnTo>
                    <a:pt x="10241280" y="13589"/>
                  </a:lnTo>
                  <a:lnTo>
                    <a:pt x="10254869" y="13589"/>
                  </a:lnTo>
                  <a:lnTo>
                    <a:pt x="1025486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84583" y="7649975"/>
            <a:ext cx="903227" cy="903227"/>
            <a:chOff x="0" y="0"/>
            <a:chExt cx="1204303" cy="1204303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1204341" cy="1204214"/>
            </a:xfrm>
            <a:custGeom>
              <a:avLst/>
              <a:gdLst/>
              <a:ahLst/>
              <a:cxnLst/>
              <a:rect l="l" t="t" r="r" b="b"/>
              <a:pathLst>
                <a:path w="1204341" h="1204214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97280" y="7662672"/>
            <a:ext cx="877824" cy="877824"/>
            <a:chOff x="0" y="0"/>
            <a:chExt cx="1170432" cy="1170432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1170432" cy="1170432"/>
            </a:xfrm>
            <a:custGeom>
              <a:avLst/>
              <a:gdLst/>
              <a:ahLst/>
              <a:cxnLst/>
              <a:rect l="l" t="t" r="r" b="b"/>
              <a:pathLst>
                <a:path w="1170432" h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2157984" y="7114032"/>
            <a:ext cx="6126480" cy="640080"/>
            <a:chOff x="0" y="0"/>
            <a:chExt cx="8168640" cy="853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68640" cy="853440"/>
            </a:xfrm>
            <a:custGeom>
              <a:avLst/>
              <a:gdLst/>
              <a:ahLst/>
              <a:cxnLst/>
              <a:rect l="l" t="t" r="r" b="b"/>
              <a:pathLst>
                <a:path w="8168640" h="853440">
                  <a:moveTo>
                    <a:pt x="0" y="0"/>
                  </a:moveTo>
                  <a:lnTo>
                    <a:pt x="8168640" y="0"/>
                  </a:lnTo>
                  <a:lnTo>
                    <a:pt x="8168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499" b="-13649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81686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Post-Breakup Singles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157984" y="7845552"/>
            <a:ext cx="6126480" cy="1316736"/>
            <a:chOff x="0" y="0"/>
            <a:chExt cx="8168640" cy="17556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68640" cy="1755648"/>
            </a:xfrm>
            <a:custGeom>
              <a:avLst/>
              <a:gdLst/>
              <a:ahLst/>
              <a:cxnLst/>
              <a:rect l="l" t="t" r="r" b="b"/>
              <a:pathLst>
                <a:path w="8168640" h="1755648">
                  <a:moveTo>
                    <a:pt x="0" y="0"/>
                  </a:moveTo>
                  <a:lnTo>
                    <a:pt x="8168640" y="0"/>
                  </a:lnTo>
                  <a:lnTo>
                    <a:pt x="8168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04775"/>
              <a:ext cx="8168640" cy="1860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Recovering &amp; learning from past</a:t>
              </a:r>
            </a:p>
            <a:p>
              <a:pPr algn="l">
                <a:lnSpc>
                  <a:spcPts val="2964"/>
                </a:lnSpc>
              </a:pPr>
              <a:r>
                <a:rPr lang="en-US" sz="19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Entry via freemium, high conversion potential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14183" y="261623"/>
            <a:ext cx="8437883" cy="9718043"/>
            <a:chOff x="0" y="0"/>
            <a:chExt cx="11250511" cy="1295739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1216640" cy="12923520"/>
            </a:xfrm>
            <a:custGeom>
              <a:avLst/>
              <a:gdLst/>
              <a:ahLst/>
              <a:cxnLst/>
              <a:rect l="l" t="t" r="r" b="b"/>
              <a:pathLst>
                <a:path w="11216640" h="12923520">
                  <a:moveTo>
                    <a:pt x="0" y="0"/>
                  </a:moveTo>
                  <a:lnTo>
                    <a:pt x="11216640" y="0"/>
                  </a:lnTo>
                  <a:lnTo>
                    <a:pt x="11216640" y="12923520"/>
                  </a:lnTo>
                  <a:lnTo>
                    <a:pt x="0" y="1292352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1250422" cy="12957302"/>
            </a:xfrm>
            <a:custGeom>
              <a:avLst/>
              <a:gdLst/>
              <a:ahLst/>
              <a:cxnLst/>
              <a:rect l="l" t="t" r="r" b="b"/>
              <a:pathLst>
                <a:path w="11250422" h="1295730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2940411"/>
                  </a:lnTo>
                  <a:cubicBezTo>
                    <a:pt x="11250422" y="12949809"/>
                    <a:pt x="11242802" y="12957302"/>
                    <a:pt x="11233531" y="12957302"/>
                  </a:cubicBezTo>
                  <a:lnTo>
                    <a:pt x="16891" y="12957302"/>
                  </a:lnTo>
                  <a:cubicBezTo>
                    <a:pt x="7493" y="12957302"/>
                    <a:pt x="0" y="12949682"/>
                    <a:pt x="0" y="12940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940411"/>
                  </a:lnTo>
                  <a:lnTo>
                    <a:pt x="16891" y="12940411"/>
                  </a:lnTo>
                  <a:lnTo>
                    <a:pt x="16891" y="12923520"/>
                  </a:lnTo>
                  <a:lnTo>
                    <a:pt x="11233531" y="12923520"/>
                  </a:lnTo>
                  <a:lnTo>
                    <a:pt x="11233531" y="12940411"/>
                  </a:lnTo>
                  <a:lnTo>
                    <a:pt x="11216640" y="129404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314183" y="261623"/>
            <a:ext cx="8437883" cy="939803"/>
            <a:chOff x="0" y="0"/>
            <a:chExt cx="11250511" cy="125307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11216640" cy="1219200"/>
            </a:xfrm>
            <a:custGeom>
              <a:avLst/>
              <a:gdLst/>
              <a:ahLst/>
              <a:cxnLst/>
              <a:rect l="l" t="t" r="r" b="b"/>
              <a:pathLst>
                <a:path w="11216640" h="121920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11250422" cy="1252984"/>
            </a:xfrm>
            <a:custGeom>
              <a:avLst/>
              <a:gdLst/>
              <a:ahLst/>
              <a:cxnLst/>
              <a:rect l="l" t="t" r="r" b="b"/>
              <a:pathLst>
                <a:path w="11250422" h="1252984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236091"/>
                  </a:lnTo>
                  <a:cubicBezTo>
                    <a:pt x="11250422" y="1245489"/>
                    <a:pt x="11242802" y="1252982"/>
                    <a:pt x="11233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1233531" y="1219200"/>
                  </a:lnTo>
                  <a:lnTo>
                    <a:pt x="11233531" y="1236091"/>
                  </a:lnTo>
                  <a:lnTo>
                    <a:pt x="11216640" y="1236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601200" y="274320"/>
            <a:ext cx="7863840" cy="914400"/>
            <a:chOff x="0" y="0"/>
            <a:chExt cx="10485120" cy="12192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485120" cy="1219200"/>
            </a:xfrm>
            <a:custGeom>
              <a:avLst/>
              <a:gdLst/>
              <a:ahLst/>
              <a:cxnLst/>
              <a:rect l="l" t="t" r="r" b="b"/>
              <a:pathLst>
                <a:path w="10485120" h="121920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04851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🔥  Why We Win (USP)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14183" y="1358903"/>
            <a:ext cx="2768603" cy="756923"/>
            <a:chOff x="0" y="0"/>
            <a:chExt cx="3691471" cy="100923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3691382" cy="1009144"/>
            </a:xfrm>
            <a:custGeom>
              <a:avLst/>
              <a:gdLst/>
              <a:ahLst/>
              <a:cxnLst/>
              <a:rect l="l" t="t" r="r" b="b"/>
              <a:pathLst>
                <a:path w="3691382" h="1009144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992251"/>
                  </a:lnTo>
                  <a:cubicBezTo>
                    <a:pt x="3691382" y="1001649"/>
                    <a:pt x="3683762" y="1009142"/>
                    <a:pt x="36744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3674491" y="975360"/>
                  </a:lnTo>
                  <a:lnTo>
                    <a:pt x="3674491" y="992251"/>
                  </a:lnTo>
                  <a:lnTo>
                    <a:pt x="3657600" y="99225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057383" y="1358903"/>
            <a:ext cx="2768603" cy="756923"/>
            <a:chOff x="0" y="0"/>
            <a:chExt cx="3691471" cy="1009231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5A1A1A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3691382" cy="1009144"/>
            </a:xfrm>
            <a:custGeom>
              <a:avLst/>
              <a:gdLst/>
              <a:ahLst/>
              <a:cxnLst/>
              <a:rect l="l" t="t" r="r" b="b"/>
              <a:pathLst>
                <a:path w="3691382" h="1009144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992251"/>
                  </a:lnTo>
                  <a:cubicBezTo>
                    <a:pt x="3691382" y="1001649"/>
                    <a:pt x="3683762" y="1009142"/>
                    <a:pt x="36744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3674491" y="975360"/>
                  </a:lnTo>
                  <a:lnTo>
                    <a:pt x="3674491" y="992251"/>
                  </a:lnTo>
                  <a:lnTo>
                    <a:pt x="3657600" y="99225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2070080" y="1371600"/>
            <a:ext cx="2743200" cy="731520"/>
            <a:chOff x="0" y="0"/>
            <a:chExt cx="3657600" cy="9753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Others ❌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800583" y="1358903"/>
            <a:ext cx="2768603" cy="756923"/>
            <a:chOff x="0" y="0"/>
            <a:chExt cx="3691471" cy="1009231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C22D4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3691382" cy="1009144"/>
            </a:xfrm>
            <a:custGeom>
              <a:avLst/>
              <a:gdLst/>
              <a:ahLst/>
              <a:cxnLst/>
              <a:rect l="l" t="t" r="r" b="b"/>
              <a:pathLst>
                <a:path w="3691382" h="1009144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992251"/>
                  </a:lnTo>
                  <a:cubicBezTo>
                    <a:pt x="3691382" y="1001649"/>
                    <a:pt x="3683762" y="1009142"/>
                    <a:pt x="36744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3674491" y="975360"/>
                  </a:lnTo>
                  <a:lnTo>
                    <a:pt x="3674491" y="992251"/>
                  </a:lnTo>
                  <a:lnTo>
                    <a:pt x="3657600" y="99225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4813251" y="1343025"/>
            <a:ext cx="2743229" cy="760095"/>
            <a:chOff x="-39" y="-38100"/>
            <a:chExt cx="3657639" cy="1013460"/>
          </a:xfrm>
        </p:grpSpPr>
        <p:sp>
          <p:nvSpPr>
            <p:cNvPr id="78" name="Freeform 78"/>
            <p:cNvSpPr/>
            <p:nvPr/>
          </p:nvSpPr>
          <p:spPr>
            <a:xfrm>
              <a:off x="-39" y="0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65760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PREMO AI 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320527" y="2096767"/>
            <a:ext cx="2755897" cy="1384297"/>
            <a:chOff x="0" y="0"/>
            <a:chExt cx="3674529" cy="1845729"/>
          </a:xfrm>
        </p:grpSpPr>
        <p:sp>
          <p:nvSpPr>
            <p:cNvPr id="81" name="Freeform 81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326880" y="2468880"/>
            <a:ext cx="2743200" cy="1188720"/>
            <a:chOff x="0" y="0"/>
            <a:chExt cx="3657600" cy="15849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r="-5598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762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18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Approach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063727" y="2096767"/>
            <a:ext cx="2755897" cy="1384297"/>
            <a:chOff x="0" y="0"/>
            <a:chExt cx="3674529" cy="1845729"/>
          </a:xfrm>
        </p:grpSpPr>
        <p:sp>
          <p:nvSpPr>
            <p:cNvPr id="87" name="Freeform 87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0F0F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2106656" y="2194560"/>
            <a:ext cx="365760" cy="365760"/>
            <a:chOff x="0" y="0"/>
            <a:chExt cx="487680" cy="487680"/>
          </a:xfrm>
        </p:grpSpPr>
        <p:sp>
          <p:nvSpPr>
            <p:cNvPr id="90" name="Freeform 90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91" name="TextBox 91"/>
          <p:cNvSpPr txBox="1"/>
          <p:nvPr/>
        </p:nvSpPr>
        <p:spPr>
          <a:xfrm>
            <a:off x="12490704" y="211836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F8080"/>
                </a:solidFill>
                <a:latin typeface="Calibri (MS)"/>
                <a:ea typeface="Calibri (MS)"/>
                <a:cs typeface="Calibri (MS)"/>
                <a:sym typeface="Calibri (MS)"/>
              </a:rPr>
              <a:t>Therapy after breakup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4806927" y="2096767"/>
            <a:ext cx="2755897" cy="1384297"/>
            <a:chOff x="0" y="0"/>
            <a:chExt cx="3674529" cy="1845729"/>
          </a:xfrm>
        </p:grpSpPr>
        <p:sp>
          <p:nvSpPr>
            <p:cNvPr id="93" name="Freeform 93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4849856" y="2194560"/>
            <a:ext cx="365760" cy="365760"/>
            <a:chOff x="0" y="0"/>
            <a:chExt cx="487680" cy="487680"/>
          </a:xfrm>
        </p:grpSpPr>
        <p:sp>
          <p:nvSpPr>
            <p:cNvPr id="96" name="Freeform 96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97" name="TextBox 97"/>
          <p:cNvSpPr txBox="1"/>
          <p:nvPr/>
        </p:nvSpPr>
        <p:spPr>
          <a:xfrm>
            <a:off x="15233904" y="211836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Prevention before breakup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9320527" y="3559807"/>
            <a:ext cx="2755897" cy="1384297"/>
            <a:chOff x="0" y="0"/>
            <a:chExt cx="3674529" cy="1845729"/>
          </a:xfrm>
        </p:grpSpPr>
        <p:sp>
          <p:nvSpPr>
            <p:cNvPr id="99" name="Freeform 99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9326880" y="3931920"/>
            <a:ext cx="2743200" cy="1188720"/>
            <a:chOff x="0" y="0"/>
            <a:chExt cx="3657600" cy="158496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r="-5598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762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18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Engagement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063727" y="3559807"/>
            <a:ext cx="2755897" cy="1384297"/>
            <a:chOff x="0" y="0"/>
            <a:chExt cx="3674529" cy="1845729"/>
          </a:xfrm>
        </p:grpSpPr>
        <p:sp>
          <p:nvSpPr>
            <p:cNvPr id="105" name="Freeform 105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0F0F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2106656" y="3657600"/>
            <a:ext cx="365760" cy="365760"/>
            <a:chOff x="0" y="0"/>
            <a:chExt cx="487680" cy="487680"/>
          </a:xfrm>
        </p:grpSpPr>
        <p:sp>
          <p:nvSpPr>
            <p:cNvPr id="108" name="Freeform 108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9" name="TextBox 109"/>
          <p:cNvSpPr txBox="1"/>
          <p:nvPr/>
        </p:nvSpPr>
        <p:spPr>
          <a:xfrm>
            <a:off x="12490704" y="385572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F8080"/>
                </a:solidFill>
                <a:latin typeface="Calibri (MS)"/>
                <a:ea typeface="Calibri (MS)"/>
                <a:cs typeface="Calibri (MS)"/>
                <a:sym typeface="Calibri (MS)"/>
              </a:rPr>
              <a:t>One-time help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14806927" y="3559807"/>
            <a:ext cx="2755897" cy="1384297"/>
            <a:chOff x="0" y="0"/>
            <a:chExt cx="3674529" cy="1845729"/>
          </a:xfrm>
        </p:grpSpPr>
        <p:sp>
          <p:nvSpPr>
            <p:cNvPr id="111" name="Freeform 111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14849856" y="3657600"/>
            <a:ext cx="365760" cy="365760"/>
            <a:chOff x="0" y="0"/>
            <a:chExt cx="487680" cy="487680"/>
          </a:xfrm>
        </p:grpSpPr>
        <p:sp>
          <p:nvSpPr>
            <p:cNvPr id="114" name="Freeform 114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15" name="TextBox 115"/>
          <p:cNvSpPr txBox="1"/>
          <p:nvPr/>
        </p:nvSpPr>
        <p:spPr>
          <a:xfrm>
            <a:off x="15233904" y="358140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Daily relationship care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9320527" y="5022847"/>
            <a:ext cx="2755897" cy="1384297"/>
            <a:chOff x="0" y="0"/>
            <a:chExt cx="3674529" cy="1845729"/>
          </a:xfrm>
        </p:grpSpPr>
        <p:sp>
          <p:nvSpPr>
            <p:cNvPr id="117" name="Freeform 117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9326880" y="5394960"/>
            <a:ext cx="2743200" cy="1188720"/>
            <a:chOff x="0" y="0"/>
            <a:chExt cx="3657600" cy="158496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r="-5598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762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18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2063727" y="5022847"/>
            <a:ext cx="2755897" cy="1384297"/>
            <a:chOff x="0" y="0"/>
            <a:chExt cx="3674529" cy="1845729"/>
          </a:xfrm>
        </p:grpSpPr>
        <p:sp>
          <p:nvSpPr>
            <p:cNvPr id="123" name="Freeform 123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0F0F"/>
            </a:solidFill>
          </p:spPr>
        </p:sp>
        <p:sp>
          <p:nvSpPr>
            <p:cNvPr id="124" name="Freeform 124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25" name="Group 125"/>
          <p:cNvGrpSpPr/>
          <p:nvPr/>
        </p:nvGrpSpPr>
        <p:grpSpPr>
          <a:xfrm>
            <a:off x="12106656" y="5120640"/>
            <a:ext cx="365760" cy="365760"/>
            <a:chOff x="0" y="0"/>
            <a:chExt cx="487680" cy="487680"/>
          </a:xfrm>
        </p:grpSpPr>
        <p:sp>
          <p:nvSpPr>
            <p:cNvPr id="126" name="Freeform 126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7" name="TextBox 127"/>
          <p:cNvSpPr txBox="1"/>
          <p:nvPr/>
        </p:nvSpPr>
        <p:spPr>
          <a:xfrm>
            <a:off x="12490704" y="531876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F8080"/>
                </a:solidFill>
                <a:latin typeface="Calibri (MS)"/>
                <a:ea typeface="Calibri (MS)"/>
                <a:cs typeface="Calibri (MS)"/>
                <a:sym typeface="Calibri (MS)"/>
              </a:rPr>
              <a:t>₹2,000+/session</a:t>
            </a:r>
          </a:p>
        </p:txBody>
      </p:sp>
      <p:grpSp>
        <p:nvGrpSpPr>
          <p:cNvPr id="128" name="Group 128"/>
          <p:cNvGrpSpPr/>
          <p:nvPr/>
        </p:nvGrpSpPr>
        <p:grpSpPr>
          <a:xfrm>
            <a:off x="14806927" y="5022847"/>
            <a:ext cx="2755897" cy="1384297"/>
            <a:chOff x="0" y="0"/>
            <a:chExt cx="3674529" cy="1845729"/>
          </a:xfrm>
        </p:grpSpPr>
        <p:sp>
          <p:nvSpPr>
            <p:cNvPr id="129" name="Freeform 129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id="130" name="Freeform 130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4849856" y="5120640"/>
            <a:ext cx="365760" cy="365760"/>
            <a:chOff x="0" y="0"/>
            <a:chExt cx="487680" cy="487680"/>
          </a:xfrm>
        </p:grpSpPr>
        <p:sp>
          <p:nvSpPr>
            <p:cNvPr id="132" name="Freeform 132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33" name="TextBox 133"/>
          <p:cNvSpPr txBox="1"/>
          <p:nvPr/>
        </p:nvSpPr>
        <p:spPr>
          <a:xfrm>
            <a:off x="15233904" y="531876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₹99/month</a:t>
            </a:r>
          </a:p>
        </p:txBody>
      </p:sp>
      <p:grpSp>
        <p:nvGrpSpPr>
          <p:cNvPr id="134" name="Group 134"/>
          <p:cNvGrpSpPr/>
          <p:nvPr/>
        </p:nvGrpSpPr>
        <p:grpSpPr>
          <a:xfrm>
            <a:off x="9320527" y="6485887"/>
            <a:ext cx="2755897" cy="1384297"/>
            <a:chOff x="0" y="0"/>
            <a:chExt cx="3674529" cy="1845729"/>
          </a:xfrm>
        </p:grpSpPr>
        <p:sp>
          <p:nvSpPr>
            <p:cNvPr id="135" name="Freeform 135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136" name="Freeform 136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37" name="Group 137"/>
          <p:cNvGrpSpPr/>
          <p:nvPr/>
        </p:nvGrpSpPr>
        <p:grpSpPr>
          <a:xfrm>
            <a:off x="9326880" y="6858000"/>
            <a:ext cx="2743200" cy="1188720"/>
            <a:chOff x="0" y="0"/>
            <a:chExt cx="3657600" cy="158496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r="-5598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762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18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Availability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2063727" y="6485887"/>
            <a:ext cx="2755897" cy="1384297"/>
            <a:chOff x="0" y="0"/>
            <a:chExt cx="3674529" cy="1845729"/>
          </a:xfrm>
        </p:grpSpPr>
        <p:sp>
          <p:nvSpPr>
            <p:cNvPr id="141" name="Freeform 141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0F0F"/>
            </a:solidFill>
          </p:spPr>
        </p:sp>
        <p:sp>
          <p:nvSpPr>
            <p:cNvPr id="142" name="Freeform 142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43" name="Group 143"/>
          <p:cNvGrpSpPr/>
          <p:nvPr/>
        </p:nvGrpSpPr>
        <p:grpSpPr>
          <a:xfrm>
            <a:off x="12106656" y="6583680"/>
            <a:ext cx="365760" cy="365760"/>
            <a:chOff x="0" y="0"/>
            <a:chExt cx="487680" cy="487680"/>
          </a:xfrm>
        </p:grpSpPr>
        <p:sp>
          <p:nvSpPr>
            <p:cNvPr id="144" name="Freeform 144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45" name="TextBox 145"/>
          <p:cNvSpPr txBox="1"/>
          <p:nvPr/>
        </p:nvSpPr>
        <p:spPr>
          <a:xfrm>
            <a:off x="12490704" y="650748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F8080"/>
                </a:solidFill>
                <a:latin typeface="Calibri (MS)"/>
                <a:ea typeface="Calibri (MS)"/>
                <a:cs typeface="Calibri (MS)"/>
                <a:sym typeface="Calibri (MS)"/>
              </a:rPr>
              <a:t>Office hours only</a:t>
            </a:r>
          </a:p>
        </p:txBody>
      </p:sp>
      <p:grpSp>
        <p:nvGrpSpPr>
          <p:cNvPr id="146" name="Group 146"/>
          <p:cNvGrpSpPr/>
          <p:nvPr/>
        </p:nvGrpSpPr>
        <p:grpSpPr>
          <a:xfrm>
            <a:off x="14806927" y="6485887"/>
            <a:ext cx="2755897" cy="1384297"/>
            <a:chOff x="0" y="0"/>
            <a:chExt cx="3674529" cy="1845729"/>
          </a:xfrm>
        </p:grpSpPr>
        <p:sp>
          <p:nvSpPr>
            <p:cNvPr id="147" name="Freeform 147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id="148" name="Freeform 148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49" name="Group 149"/>
          <p:cNvGrpSpPr/>
          <p:nvPr/>
        </p:nvGrpSpPr>
        <p:grpSpPr>
          <a:xfrm>
            <a:off x="14849856" y="6583680"/>
            <a:ext cx="365760" cy="365760"/>
            <a:chOff x="0" y="0"/>
            <a:chExt cx="487680" cy="487680"/>
          </a:xfrm>
        </p:grpSpPr>
        <p:sp>
          <p:nvSpPr>
            <p:cNvPr id="150" name="Freeform 150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51" name="TextBox 151"/>
          <p:cNvSpPr txBox="1"/>
          <p:nvPr/>
        </p:nvSpPr>
        <p:spPr>
          <a:xfrm>
            <a:off x="15233904" y="678180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24/7 AI-powered</a:t>
            </a:r>
          </a:p>
        </p:txBody>
      </p:sp>
      <p:grpSp>
        <p:nvGrpSpPr>
          <p:cNvPr id="152" name="Group 152"/>
          <p:cNvGrpSpPr/>
          <p:nvPr/>
        </p:nvGrpSpPr>
        <p:grpSpPr>
          <a:xfrm>
            <a:off x="9320527" y="7948927"/>
            <a:ext cx="2755897" cy="1384297"/>
            <a:chOff x="0" y="0"/>
            <a:chExt cx="3674529" cy="1845729"/>
          </a:xfrm>
        </p:grpSpPr>
        <p:sp>
          <p:nvSpPr>
            <p:cNvPr id="153" name="Freeform 153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D0A6B"/>
            </a:solidFill>
          </p:spPr>
        </p:sp>
        <p:sp>
          <p:nvSpPr>
            <p:cNvPr id="154" name="Freeform 154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55" name="Group 155"/>
          <p:cNvGrpSpPr/>
          <p:nvPr/>
        </p:nvGrpSpPr>
        <p:grpSpPr>
          <a:xfrm>
            <a:off x="9326880" y="8321040"/>
            <a:ext cx="2743200" cy="1188720"/>
            <a:chOff x="0" y="0"/>
            <a:chExt cx="3657600" cy="158496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r="-5598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762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18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Stigma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2063727" y="7948927"/>
            <a:ext cx="2755897" cy="1384297"/>
            <a:chOff x="0" y="0"/>
            <a:chExt cx="3674529" cy="1845729"/>
          </a:xfrm>
        </p:grpSpPr>
        <p:sp>
          <p:nvSpPr>
            <p:cNvPr id="159" name="Freeform 159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A0F0F"/>
            </a:solidFill>
          </p:spPr>
        </p:sp>
        <p:sp>
          <p:nvSpPr>
            <p:cNvPr id="160" name="Freeform 160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61" name="Group 161"/>
          <p:cNvGrpSpPr/>
          <p:nvPr/>
        </p:nvGrpSpPr>
        <p:grpSpPr>
          <a:xfrm>
            <a:off x="12106656" y="8046720"/>
            <a:ext cx="365760" cy="365760"/>
            <a:chOff x="0" y="0"/>
            <a:chExt cx="487680" cy="487680"/>
          </a:xfrm>
        </p:grpSpPr>
        <p:sp>
          <p:nvSpPr>
            <p:cNvPr id="162" name="Freeform 162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63" name="TextBox 163"/>
          <p:cNvSpPr txBox="1"/>
          <p:nvPr/>
        </p:nvSpPr>
        <p:spPr>
          <a:xfrm>
            <a:off x="12490704" y="824484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F8080"/>
                </a:solidFill>
                <a:latin typeface="Calibri (MS)"/>
                <a:ea typeface="Calibri (MS)"/>
                <a:cs typeface="Calibri (MS)"/>
                <a:sym typeface="Calibri (MS)"/>
              </a:rPr>
              <a:t>Socially awkward</a:t>
            </a:r>
          </a:p>
        </p:txBody>
      </p:sp>
      <p:grpSp>
        <p:nvGrpSpPr>
          <p:cNvPr id="164" name="Group 164"/>
          <p:cNvGrpSpPr/>
          <p:nvPr/>
        </p:nvGrpSpPr>
        <p:grpSpPr>
          <a:xfrm>
            <a:off x="14806927" y="7948927"/>
            <a:ext cx="2755897" cy="1384297"/>
            <a:chOff x="0" y="0"/>
            <a:chExt cx="3674529" cy="1845729"/>
          </a:xfrm>
        </p:grpSpPr>
        <p:sp>
          <p:nvSpPr>
            <p:cNvPr id="165" name="Freeform 165"/>
            <p:cNvSpPr/>
            <p:nvPr/>
          </p:nvSpPr>
          <p:spPr>
            <a:xfrm>
              <a:off x="8509" y="8509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id="166" name="Freeform 166"/>
            <p:cNvSpPr/>
            <p:nvPr/>
          </p:nvSpPr>
          <p:spPr>
            <a:xfrm>
              <a:off x="0" y="0"/>
              <a:ext cx="3674618" cy="1845818"/>
            </a:xfrm>
            <a:custGeom>
              <a:avLst/>
              <a:gdLst/>
              <a:ahLst/>
              <a:cxnLst/>
              <a:rect l="l" t="t" r="r" b="b"/>
              <a:pathLst>
                <a:path w="3674618" h="1845818">
                  <a:moveTo>
                    <a:pt x="8509" y="0"/>
                  </a:moveTo>
                  <a:lnTo>
                    <a:pt x="3666109" y="0"/>
                  </a:lnTo>
                  <a:cubicBezTo>
                    <a:pt x="3670808" y="0"/>
                    <a:pt x="3674618" y="3810"/>
                    <a:pt x="3674618" y="8509"/>
                  </a:cubicBezTo>
                  <a:lnTo>
                    <a:pt x="3674618" y="1837309"/>
                  </a:lnTo>
                  <a:cubicBezTo>
                    <a:pt x="3674618" y="1842008"/>
                    <a:pt x="3670808" y="1845818"/>
                    <a:pt x="366610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3666109" y="1828800"/>
                  </a:lnTo>
                  <a:lnTo>
                    <a:pt x="3666109" y="1837309"/>
                  </a:lnTo>
                  <a:lnTo>
                    <a:pt x="3657600" y="1837309"/>
                  </a:lnTo>
                  <a:lnTo>
                    <a:pt x="3657600" y="8509"/>
                  </a:lnTo>
                  <a:lnTo>
                    <a:pt x="3666109" y="8509"/>
                  </a:lnTo>
                  <a:lnTo>
                    <a:pt x="3666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67" name="Group 167"/>
          <p:cNvGrpSpPr/>
          <p:nvPr/>
        </p:nvGrpSpPr>
        <p:grpSpPr>
          <a:xfrm>
            <a:off x="14849856" y="8046720"/>
            <a:ext cx="365760" cy="365760"/>
            <a:chOff x="0" y="0"/>
            <a:chExt cx="487680" cy="487680"/>
          </a:xfrm>
        </p:grpSpPr>
        <p:sp>
          <p:nvSpPr>
            <p:cNvPr id="168" name="Freeform 168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69" name="TextBox 169"/>
          <p:cNvSpPr txBox="1"/>
          <p:nvPr/>
        </p:nvSpPr>
        <p:spPr>
          <a:xfrm>
            <a:off x="15233904" y="7970520"/>
            <a:ext cx="2286000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1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Anonymous &amp; private</a:t>
            </a:r>
          </a:p>
        </p:txBody>
      </p:sp>
      <p:grpSp>
        <p:nvGrpSpPr>
          <p:cNvPr id="170" name="Group 170"/>
          <p:cNvGrpSpPr/>
          <p:nvPr/>
        </p:nvGrpSpPr>
        <p:grpSpPr>
          <a:xfrm>
            <a:off x="9143999" y="9063799"/>
            <a:ext cx="8607999" cy="1073342"/>
            <a:chOff x="-243841" y="-399543"/>
            <a:chExt cx="11477332" cy="1431123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1216640" cy="853440"/>
            </a:xfrm>
            <a:custGeom>
              <a:avLst/>
              <a:gdLst/>
              <a:ahLst/>
              <a:cxnLst/>
              <a:rect l="l" t="t" r="r" b="b"/>
              <a:pathLst>
                <a:path w="11216640" h="8534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089" b="-206089"/>
              </a:stretch>
            </a:blipFill>
          </p:spPr>
        </p:sp>
        <p:sp>
          <p:nvSpPr>
            <p:cNvPr id="172" name="TextBox 172"/>
            <p:cNvSpPr txBox="1"/>
            <p:nvPr/>
          </p:nvSpPr>
          <p:spPr>
            <a:xfrm>
              <a:off x="-243841" y="-399543"/>
              <a:ext cx="11477332" cy="1431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 dirty="0">
                  <a:solidFill>
                    <a:srgbClr val="FFD1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"We are not competing — we </a:t>
              </a:r>
              <a:r>
                <a:rPr lang="en-US" i="1" dirty="0">
                  <a:solidFill>
                    <a:srgbClr val="FFD1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are</a:t>
              </a:r>
              <a:r>
                <a:rPr lang="en-US" sz="1800" i="1" dirty="0">
                  <a:solidFill>
                    <a:srgbClr val="FFD1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creating a new category."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44903" y="-1475737"/>
            <a:ext cx="10998203" cy="10998203"/>
            <a:chOff x="0" y="0"/>
            <a:chExt cx="14664271" cy="14664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4630399" cy="14630401"/>
            </a:xfrm>
            <a:custGeom>
              <a:avLst/>
              <a:gdLst/>
              <a:ahLst/>
              <a:cxnLst/>
              <a:rect l="l" t="t" r="r" b="b"/>
              <a:pathLst>
                <a:path w="14630399" h="14630401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6C22D4">
                <a:alpha val="8627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664182" cy="14664182"/>
            </a:xfrm>
            <a:custGeom>
              <a:avLst/>
              <a:gdLst/>
              <a:ahLst/>
              <a:cxnLst/>
              <a:rect l="l" t="t" r="r" b="b"/>
              <a:pathLst>
                <a:path w="14664182" h="14664182">
                  <a:moveTo>
                    <a:pt x="0" y="7332091"/>
                  </a:moveTo>
                  <a:cubicBezTo>
                    <a:pt x="0" y="3282696"/>
                    <a:pt x="3282696" y="0"/>
                    <a:pt x="7332091" y="0"/>
                  </a:cubicBezTo>
                  <a:lnTo>
                    <a:pt x="7332091" y="16891"/>
                  </a:lnTo>
                  <a:lnTo>
                    <a:pt x="7332091" y="0"/>
                  </a:lnTo>
                  <a:cubicBezTo>
                    <a:pt x="11381487" y="0"/>
                    <a:pt x="14664182" y="3282696"/>
                    <a:pt x="14664182" y="7332091"/>
                  </a:cubicBezTo>
                  <a:lnTo>
                    <a:pt x="14647292" y="7332091"/>
                  </a:lnTo>
                  <a:lnTo>
                    <a:pt x="14664182" y="7332091"/>
                  </a:lnTo>
                  <a:cubicBezTo>
                    <a:pt x="14664182" y="11381487"/>
                    <a:pt x="11381487" y="14664182"/>
                    <a:pt x="7332091" y="14664182"/>
                  </a:cubicBezTo>
                  <a:lnTo>
                    <a:pt x="7332091" y="14647292"/>
                  </a:lnTo>
                  <a:lnTo>
                    <a:pt x="7332091" y="14664182"/>
                  </a:lnTo>
                  <a:cubicBezTo>
                    <a:pt x="3282696" y="14664310"/>
                    <a:pt x="0" y="11381613"/>
                    <a:pt x="0" y="7332091"/>
                  </a:cubicBezTo>
                  <a:lnTo>
                    <a:pt x="16891" y="7332091"/>
                  </a:lnTo>
                  <a:lnTo>
                    <a:pt x="31115" y="7341235"/>
                  </a:lnTo>
                  <a:cubicBezTo>
                    <a:pt x="27051" y="7347585"/>
                    <a:pt x="19304" y="7350379"/>
                    <a:pt x="12065" y="7348348"/>
                  </a:cubicBezTo>
                  <a:cubicBezTo>
                    <a:pt x="4826" y="7346315"/>
                    <a:pt x="0" y="7339584"/>
                    <a:pt x="0" y="7332091"/>
                  </a:cubicBezTo>
                  <a:moveTo>
                    <a:pt x="33909" y="7332091"/>
                  </a:moveTo>
                  <a:lnTo>
                    <a:pt x="16891" y="7332091"/>
                  </a:lnTo>
                  <a:lnTo>
                    <a:pt x="2667" y="7322948"/>
                  </a:lnTo>
                  <a:cubicBezTo>
                    <a:pt x="6731" y="7316598"/>
                    <a:pt x="14478" y="7313803"/>
                    <a:pt x="21717" y="7315835"/>
                  </a:cubicBezTo>
                  <a:cubicBezTo>
                    <a:pt x="28956" y="7317867"/>
                    <a:pt x="33909" y="7324598"/>
                    <a:pt x="33909" y="7332091"/>
                  </a:cubicBezTo>
                  <a:cubicBezTo>
                    <a:pt x="33909" y="11362817"/>
                    <a:pt x="3301365" y="14630400"/>
                    <a:pt x="7332091" y="14630400"/>
                  </a:cubicBezTo>
                  <a:cubicBezTo>
                    <a:pt x="11362817" y="14630400"/>
                    <a:pt x="14630400" y="11362817"/>
                    <a:pt x="14630400" y="7332091"/>
                  </a:cubicBezTo>
                  <a:cubicBezTo>
                    <a:pt x="14630400" y="3301365"/>
                    <a:pt x="11362817" y="33909"/>
                    <a:pt x="7332091" y="33909"/>
                  </a:cubicBezTo>
                  <a:lnTo>
                    <a:pt x="7332091" y="16891"/>
                  </a:lnTo>
                  <a:lnTo>
                    <a:pt x="7332091" y="33909"/>
                  </a:lnTo>
                  <a:cubicBezTo>
                    <a:pt x="3301365" y="33909"/>
                    <a:pt x="33909" y="3301365"/>
                    <a:pt x="33909" y="7332091"/>
                  </a:cubicBezTo>
                  <a:close/>
                </a:path>
              </a:pathLst>
            </a:custGeom>
            <a:solidFill>
              <a:srgbClr val="6C22D4">
                <a:alpha val="8627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-12697"/>
            <a:ext cx="18313403" cy="153419"/>
            <a:chOff x="0" y="0"/>
            <a:chExt cx="24417871" cy="204559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457200"/>
            <a:ext cx="16459200" cy="1371600"/>
            <a:chOff x="0" y="0"/>
            <a:chExt cx="21945600" cy="182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828800"/>
            </a:xfrm>
            <a:custGeom>
              <a:avLst/>
              <a:gdLst/>
              <a:ahLst/>
              <a:cxnLst/>
              <a:rect l="l" t="t" r="r" b="b"/>
              <a:pathLst>
                <a:path w="21945600" h="18288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1945600" cy="1847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120"/>
                </a:lnSpc>
              </a:pPr>
              <a:r>
                <a:rPr lang="en-US" sz="7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Vision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68263" y="1962407"/>
            <a:ext cx="2951483" cy="135131"/>
            <a:chOff x="0" y="0"/>
            <a:chExt cx="3935311" cy="18017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3901440" cy="146304"/>
            </a:xfrm>
            <a:custGeom>
              <a:avLst/>
              <a:gdLst/>
              <a:ahLst/>
              <a:cxnLst/>
              <a:rect l="l" t="t" r="r" b="b"/>
              <a:pathLst>
                <a:path w="3901440" h="146304">
                  <a:moveTo>
                    <a:pt x="0" y="0"/>
                  </a:moveTo>
                  <a:lnTo>
                    <a:pt x="3901440" y="0"/>
                  </a:lnTo>
                  <a:lnTo>
                    <a:pt x="3901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935222" cy="180088"/>
            </a:xfrm>
            <a:custGeom>
              <a:avLst/>
              <a:gdLst/>
              <a:ahLst/>
              <a:cxnLst/>
              <a:rect l="l" t="t" r="r" b="b"/>
              <a:pathLst>
                <a:path w="3935222" h="180088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63195"/>
                  </a:lnTo>
                  <a:cubicBezTo>
                    <a:pt x="3935222" y="172593"/>
                    <a:pt x="3927602" y="180086"/>
                    <a:pt x="3918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3918331" y="146304"/>
                  </a:lnTo>
                  <a:lnTo>
                    <a:pt x="3918331" y="163195"/>
                  </a:lnTo>
                  <a:lnTo>
                    <a:pt x="3901440" y="163195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84583" y="2273303"/>
            <a:ext cx="4871723" cy="4597403"/>
            <a:chOff x="0" y="0"/>
            <a:chExt cx="6495631" cy="612987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6461760" cy="6096000"/>
            </a:xfrm>
            <a:custGeom>
              <a:avLst/>
              <a:gdLst/>
              <a:ahLst/>
              <a:cxnLst/>
              <a:rect l="l" t="t" r="r" b="b"/>
              <a:pathLst>
                <a:path w="6461760" h="6096000">
                  <a:moveTo>
                    <a:pt x="0" y="0"/>
                  </a:moveTo>
                  <a:lnTo>
                    <a:pt x="6461760" y="0"/>
                  </a:lnTo>
                  <a:lnTo>
                    <a:pt x="646176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495542" cy="6129782"/>
            </a:xfrm>
            <a:custGeom>
              <a:avLst/>
              <a:gdLst/>
              <a:ahLst/>
              <a:cxnLst/>
              <a:rect l="l" t="t" r="r" b="b"/>
              <a:pathLst>
                <a:path w="6495542" h="612978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6112891"/>
                  </a:lnTo>
                  <a:cubicBezTo>
                    <a:pt x="6495542" y="6122289"/>
                    <a:pt x="6487922" y="6129782"/>
                    <a:pt x="647865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6478651" y="6096000"/>
                  </a:lnTo>
                  <a:lnTo>
                    <a:pt x="6478651" y="6112891"/>
                  </a:lnTo>
                  <a:lnTo>
                    <a:pt x="6461760" y="611289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730503" y="2584199"/>
            <a:ext cx="1488443" cy="1488443"/>
            <a:chOff x="0" y="0"/>
            <a:chExt cx="1984591" cy="19845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984502" cy="1984502"/>
            </a:xfrm>
            <a:custGeom>
              <a:avLst/>
              <a:gdLst/>
              <a:ahLst/>
              <a:cxnLst/>
              <a:rect l="l" t="t" r="r" b="b"/>
              <a:pathLst>
                <a:path w="1984502" h="1984502">
                  <a:moveTo>
                    <a:pt x="0" y="992251"/>
                  </a:moveTo>
                  <a:cubicBezTo>
                    <a:pt x="0" y="444246"/>
                    <a:pt x="444246" y="0"/>
                    <a:pt x="992251" y="0"/>
                  </a:cubicBezTo>
                  <a:lnTo>
                    <a:pt x="992251" y="16891"/>
                  </a:lnTo>
                  <a:lnTo>
                    <a:pt x="992251" y="0"/>
                  </a:lnTo>
                  <a:cubicBezTo>
                    <a:pt x="1540256" y="0"/>
                    <a:pt x="1984502" y="444246"/>
                    <a:pt x="1984502" y="992251"/>
                  </a:cubicBezTo>
                  <a:lnTo>
                    <a:pt x="1967611" y="992251"/>
                  </a:lnTo>
                  <a:lnTo>
                    <a:pt x="1984502" y="992251"/>
                  </a:lnTo>
                  <a:cubicBezTo>
                    <a:pt x="1984502" y="1540256"/>
                    <a:pt x="1540256" y="1984502"/>
                    <a:pt x="992251" y="1984502"/>
                  </a:cubicBezTo>
                  <a:lnTo>
                    <a:pt x="992251" y="1967611"/>
                  </a:lnTo>
                  <a:lnTo>
                    <a:pt x="992251" y="1984502"/>
                  </a:lnTo>
                  <a:cubicBezTo>
                    <a:pt x="444246" y="1984629"/>
                    <a:pt x="0" y="1540383"/>
                    <a:pt x="0" y="992251"/>
                  </a:cubicBezTo>
                  <a:lnTo>
                    <a:pt x="16891" y="99225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0" y="992251"/>
                  </a:lnTo>
                  <a:moveTo>
                    <a:pt x="33909" y="992251"/>
                  </a:moveTo>
                  <a:cubicBezTo>
                    <a:pt x="33909" y="1001649"/>
                    <a:pt x="26289" y="1009142"/>
                    <a:pt x="17018" y="1009142"/>
                  </a:cubicBezTo>
                  <a:cubicBezTo>
                    <a:pt x="7747" y="1009142"/>
                    <a:pt x="0" y="1001649"/>
                    <a:pt x="0" y="992251"/>
                  </a:cubicBezTo>
                  <a:cubicBezTo>
                    <a:pt x="0" y="982853"/>
                    <a:pt x="7620" y="975360"/>
                    <a:pt x="16891" y="975360"/>
                  </a:cubicBezTo>
                  <a:cubicBezTo>
                    <a:pt x="26162" y="975360"/>
                    <a:pt x="33782" y="982980"/>
                    <a:pt x="33782" y="992251"/>
                  </a:cubicBezTo>
                  <a:cubicBezTo>
                    <a:pt x="33782" y="1521587"/>
                    <a:pt x="462915" y="1950720"/>
                    <a:pt x="992251" y="1950720"/>
                  </a:cubicBezTo>
                  <a:cubicBezTo>
                    <a:pt x="1521587" y="1950720"/>
                    <a:pt x="1950720" y="1521587"/>
                    <a:pt x="1950720" y="992251"/>
                  </a:cubicBezTo>
                  <a:cubicBezTo>
                    <a:pt x="1950720" y="462915"/>
                    <a:pt x="1521587" y="33782"/>
                    <a:pt x="992251" y="33782"/>
                  </a:cubicBezTo>
                  <a:lnTo>
                    <a:pt x="992251" y="16891"/>
                  </a:lnTo>
                  <a:lnTo>
                    <a:pt x="992251" y="33909"/>
                  </a:lnTo>
                  <a:cubicBezTo>
                    <a:pt x="462915" y="33909"/>
                    <a:pt x="33909" y="462915"/>
                    <a:pt x="33909" y="992251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743200" y="2596896"/>
            <a:ext cx="1463040" cy="1463040"/>
            <a:chOff x="0" y="0"/>
            <a:chExt cx="1950720" cy="195072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13767" y="2620775"/>
            <a:ext cx="574043" cy="574043"/>
            <a:chOff x="0" y="0"/>
            <a:chExt cx="765391" cy="765391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65429" cy="765302"/>
            </a:xfrm>
            <a:custGeom>
              <a:avLst/>
              <a:gdLst/>
              <a:ahLst/>
              <a:cxnLst/>
              <a:rect l="l" t="t" r="r" b="b"/>
              <a:pathLst>
                <a:path w="765429" h="76530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9B51E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426464" y="2633472"/>
            <a:ext cx="548640" cy="548640"/>
            <a:chOff x="0" y="0"/>
            <a:chExt cx="73152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73152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26464" y="4297680"/>
            <a:ext cx="4206240" cy="1280160"/>
            <a:chOff x="0" y="0"/>
            <a:chExt cx="5608320" cy="17068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08320" cy="1706880"/>
            </a:xfrm>
            <a:custGeom>
              <a:avLst/>
              <a:gdLst/>
              <a:ahLst/>
              <a:cxnLst/>
              <a:rect l="l" t="t" r="r" b="b"/>
              <a:pathLst>
                <a:path w="5608320" h="170688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22" b="-1402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5608320" cy="1783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08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India's #1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26464" y="5669280"/>
            <a:ext cx="4206240" cy="1005840"/>
            <a:chOff x="0" y="0"/>
            <a:chExt cx="560832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560832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 platform by 2027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0983" y="2273303"/>
            <a:ext cx="4871723" cy="4597403"/>
            <a:chOff x="0" y="0"/>
            <a:chExt cx="6495631" cy="6129871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6461760" cy="6096000"/>
            </a:xfrm>
            <a:custGeom>
              <a:avLst/>
              <a:gdLst/>
              <a:ahLst/>
              <a:cxnLst/>
              <a:rect l="l" t="t" r="r" b="b"/>
              <a:pathLst>
                <a:path w="6461760" h="6096000">
                  <a:moveTo>
                    <a:pt x="0" y="0"/>
                  </a:moveTo>
                  <a:lnTo>
                    <a:pt x="6461760" y="0"/>
                  </a:lnTo>
                  <a:lnTo>
                    <a:pt x="646176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6495542" cy="6129782"/>
            </a:xfrm>
            <a:custGeom>
              <a:avLst/>
              <a:gdLst/>
              <a:ahLst/>
              <a:cxnLst/>
              <a:rect l="l" t="t" r="r" b="b"/>
              <a:pathLst>
                <a:path w="6495542" h="612978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6112891"/>
                  </a:lnTo>
                  <a:cubicBezTo>
                    <a:pt x="6495542" y="6122289"/>
                    <a:pt x="6487922" y="6129782"/>
                    <a:pt x="647865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6478651" y="6096000"/>
                  </a:lnTo>
                  <a:lnTo>
                    <a:pt x="6478651" y="6112891"/>
                  </a:lnTo>
                  <a:lnTo>
                    <a:pt x="6461760" y="611289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216903" y="2584199"/>
            <a:ext cx="1488443" cy="1488443"/>
            <a:chOff x="0" y="0"/>
            <a:chExt cx="1984591" cy="198459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1984502" cy="1984502"/>
            </a:xfrm>
            <a:custGeom>
              <a:avLst/>
              <a:gdLst/>
              <a:ahLst/>
              <a:cxnLst/>
              <a:rect l="l" t="t" r="r" b="b"/>
              <a:pathLst>
                <a:path w="1984502" h="1984502">
                  <a:moveTo>
                    <a:pt x="0" y="992251"/>
                  </a:moveTo>
                  <a:cubicBezTo>
                    <a:pt x="0" y="444246"/>
                    <a:pt x="444246" y="0"/>
                    <a:pt x="992251" y="0"/>
                  </a:cubicBezTo>
                  <a:lnTo>
                    <a:pt x="992251" y="16891"/>
                  </a:lnTo>
                  <a:lnTo>
                    <a:pt x="992251" y="0"/>
                  </a:lnTo>
                  <a:cubicBezTo>
                    <a:pt x="1540256" y="0"/>
                    <a:pt x="1984502" y="444246"/>
                    <a:pt x="1984502" y="992251"/>
                  </a:cubicBezTo>
                  <a:lnTo>
                    <a:pt x="1967611" y="992251"/>
                  </a:lnTo>
                  <a:lnTo>
                    <a:pt x="1984502" y="992251"/>
                  </a:lnTo>
                  <a:cubicBezTo>
                    <a:pt x="1984502" y="1540256"/>
                    <a:pt x="1540256" y="1984502"/>
                    <a:pt x="992251" y="1984502"/>
                  </a:cubicBezTo>
                  <a:lnTo>
                    <a:pt x="992251" y="1967611"/>
                  </a:lnTo>
                  <a:lnTo>
                    <a:pt x="992251" y="1984502"/>
                  </a:lnTo>
                  <a:cubicBezTo>
                    <a:pt x="444246" y="1984629"/>
                    <a:pt x="0" y="1540383"/>
                    <a:pt x="0" y="992251"/>
                  </a:cubicBezTo>
                  <a:lnTo>
                    <a:pt x="16891" y="99225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0" y="992251"/>
                  </a:lnTo>
                  <a:moveTo>
                    <a:pt x="33909" y="992251"/>
                  </a:moveTo>
                  <a:cubicBezTo>
                    <a:pt x="33909" y="1001649"/>
                    <a:pt x="26289" y="1009142"/>
                    <a:pt x="17018" y="1009142"/>
                  </a:cubicBezTo>
                  <a:cubicBezTo>
                    <a:pt x="7747" y="1009142"/>
                    <a:pt x="0" y="1001649"/>
                    <a:pt x="0" y="992251"/>
                  </a:cubicBezTo>
                  <a:cubicBezTo>
                    <a:pt x="0" y="982853"/>
                    <a:pt x="7620" y="975360"/>
                    <a:pt x="16891" y="975360"/>
                  </a:cubicBezTo>
                  <a:cubicBezTo>
                    <a:pt x="26162" y="975360"/>
                    <a:pt x="33782" y="982980"/>
                    <a:pt x="33782" y="992251"/>
                  </a:cubicBezTo>
                  <a:cubicBezTo>
                    <a:pt x="33782" y="1521587"/>
                    <a:pt x="462915" y="1950720"/>
                    <a:pt x="992251" y="1950720"/>
                  </a:cubicBezTo>
                  <a:cubicBezTo>
                    <a:pt x="1521587" y="1950720"/>
                    <a:pt x="1950720" y="1521587"/>
                    <a:pt x="1950720" y="992251"/>
                  </a:cubicBezTo>
                  <a:cubicBezTo>
                    <a:pt x="1950720" y="462915"/>
                    <a:pt x="1521587" y="33782"/>
                    <a:pt x="992251" y="33782"/>
                  </a:cubicBezTo>
                  <a:lnTo>
                    <a:pt x="992251" y="16891"/>
                  </a:lnTo>
                  <a:lnTo>
                    <a:pt x="992251" y="33909"/>
                  </a:lnTo>
                  <a:cubicBezTo>
                    <a:pt x="462915" y="33909"/>
                    <a:pt x="33909" y="462915"/>
                    <a:pt x="33909" y="992251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229600" y="2596896"/>
            <a:ext cx="1463040" cy="1463040"/>
            <a:chOff x="0" y="0"/>
            <a:chExt cx="1950720" cy="1950720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900167" y="2620775"/>
            <a:ext cx="574043" cy="574043"/>
            <a:chOff x="0" y="0"/>
            <a:chExt cx="765391" cy="76539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765429" cy="765302"/>
            </a:xfrm>
            <a:custGeom>
              <a:avLst/>
              <a:gdLst/>
              <a:ahLst/>
              <a:cxnLst/>
              <a:rect l="l" t="t" r="r" b="b"/>
              <a:pathLst>
                <a:path w="765429" h="76530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912864" y="2633472"/>
            <a:ext cx="548640" cy="548640"/>
            <a:chOff x="0" y="0"/>
            <a:chExt cx="73152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73152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912864" y="4297680"/>
            <a:ext cx="4206240" cy="1280160"/>
            <a:chOff x="0" y="0"/>
            <a:chExt cx="5608320" cy="17068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608320" cy="1706880"/>
            </a:xfrm>
            <a:custGeom>
              <a:avLst/>
              <a:gdLst/>
              <a:ahLst/>
              <a:cxnLst/>
              <a:rect l="l" t="t" r="r" b="b"/>
              <a:pathLst>
                <a:path w="5608320" h="170688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22" b="-1402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5608320" cy="1783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08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 Emotional</a:t>
              </a:r>
            </a:p>
            <a:p>
              <a:pPr algn="ctr">
                <a:lnSpc>
                  <a:spcPts val="4608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Intelligence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912864" y="5669280"/>
            <a:ext cx="4206240" cy="1005840"/>
            <a:chOff x="0" y="0"/>
            <a:chExt cx="5608320" cy="1341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76200"/>
              <a:ext cx="560832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AI-driven emotional health system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057383" y="2273303"/>
            <a:ext cx="4871723" cy="4597403"/>
            <a:chOff x="0" y="0"/>
            <a:chExt cx="6495631" cy="6129871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6461760" cy="6096000"/>
            </a:xfrm>
            <a:custGeom>
              <a:avLst/>
              <a:gdLst/>
              <a:ahLst/>
              <a:cxnLst/>
              <a:rect l="l" t="t" r="r" b="b"/>
              <a:pathLst>
                <a:path w="6461760" h="6096000">
                  <a:moveTo>
                    <a:pt x="0" y="0"/>
                  </a:moveTo>
                  <a:lnTo>
                    <a:pt x="6461760" y="0"/>
                  </a:lnTo>
                  <a:lnTo>
                    <a:pt x="646176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3D1580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6495542" cy="6129782"/>
            </a:xfrm>
            <a:custGeom>
              <a:avLst/>
              <a:gdLst/>
              <a:ahLst/>
              <a:cxnLst/>
              <a:rect l="l" t="t" r="r" b="b"/>
              <a:pathLst>
                <a:path w="6495542" h="612978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6112891"/>
                  </a:lnTo>
                  <a:cubicBezTo>
                    <a:pt x="6495542" y="6122289"/>
                    <a:pt x="6487922" y="6129782"/>
                    <a:pt x="647865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6478651" y="6096000"/>
                  </a:lnTo>
                  <a:lnTo>
                    <a:pt x="6478651" y="6112891"/>
                  </a:lnTo>
                  <a:lnTo>
                    <a:pt x="6461760" y="611289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3703303" y="2584199"/>
            <a:ext cx="1488443" cy="1488443"/>
            <a:chOff x="0" y="0"/>
            <a:chExt cx="1984591" cy="1984591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984502" cy="1984502"/>
            </a:xfrm>
            <a:custGeom>
              <a:avLst/>
              <a:gdLst/>
              <a:ahLst/>
              <a:cxnLst/>
              <a:rect l="l" t="t" r="r" b="b"/>
              <a:pathLst>
                <a:path w="1984502" h="1984502">
                  <a:moveTo>
                    <a:pt x="0" y="992251"/>
                  </a:moveTo>
                  <a:cubicBezTo>
                    <a:pt x="0" y="444246"/>
                    <a:pt x="444246" y="0"/>
                    <a:pt x="992251" y="0"/>
                  </a:cubicBezTo>
                  <a:lnTo>
                    <a:pt x="992251" y="16891"/>
                  </a:lnTo>
                  <a:lnTo>
                    <a:pt x="992251" y="0"/>
                  </a:lnTo>
                  <a:cubicBezTo>
                    <a:pt x="1540256" y="0"/>
                    <a:pt x="1984502" y="444246"/>
                    <a:pt x="1984502" y="992251"/>
                  </a:cubicBezTo>
                  <a:lnTo>
                    <a:pt x="1967611" y="992251"/>
                  </a:lnTo>
                  <a:lnTo>
                    <a:pt x="1984502" y="992251"/>
                  </a:lnTo>
                  <a:cubicBezTo>
                    <a:pt x="1984502" y="1540256"/>
                    <a:pt x="1540256" y="1984502"/>
                    <a:pt x="992251" y="1984502"/>
                  </a:cubicBezTo>
                  <a:lnTo>
                    <a:pt x="992251" y="1967611"/>
                  </a:lnTo>
                  <a:lnTo>
                    <a:pt x="992251" y="1984502"/>
                  </a:lnTo>
                  <a:cubicBezTo>
                    <a:pt x="444246" y="1984629"/>
                    <a:pt x="0" y="1540383"/>
                    <a:pt x="0" y="992251"/>
                  </a:cubicBezTo>
                  <a:lnTo>
                    <a:pt x="16891" y="99225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0" y="992251"/>
                  </a:lnTo>
                  <a:moveTo>
                    <a:pt x="33909" y="992251"/>
                  </a:moveTo>
                  <a:cubicBezTo>
                    <a:pt x="33909" y="1001649"/>
                    <a:pt x="26289" y="1009142"/>
                    <a:pt x="17018" y="1009142"/>
                  </a:cubicBezTo>
                  <a:cubicBezTo>
                    <a:pt x="7747" y="1009142"/>
                    <a:pt x="0" y="1001649"/>
                    <a:pt x="0" y="992251"/>
                  </a:cubicBezTo>
                  <a:cubicBezTo>
                    <a:pt x="0" y="982853"/>
                    <a:pt x="7620" y="975360"/>
                    <a:pt x="16891" y="975360"/>
                  </a:cubicBezTo>
                  <a:cubicBezTo>
                    <a:pt x="26162" y="975360"/>
                    <a:pt x="33782" y="982980"/>
                    <a:pt x="33782" y="992251"/>
                  </a:cubicBezTo>
                  <a:cubicBezTo>
                    <a:pt x="33782" y="1521587"/>
                    <a:pt x="462915" y="1950720"/>
                    <a:pt x="992251" y="1950720"/>
                  </a:cubicBezTo>
                  <a:cubicBezTo>
                    <a:pt x="1521587" y="1950720"/>
                    <a:pt x="1950720" y="1521587"/>
                    <a:pt x="1950720" y="992251"/>
                  </a:cubicBezTo>
                  <a:cubicBezTo>
                    <a:pt x="1950720" y="462915"/>
                    <a:pt x="1521587" y="33782"/>
                    <a:pt x="992251" y="33782"/>
                  </a:cubicBezTo>
                  <a:lnTo>
                    <a:pt x="992251" y="16891"/>
                  </a:lnTo>
                  <a:lnTo>
                    <a:pt x="992251" y="33909"/>
                  </a:lnTo>
                  <a:cubicBezTo>
                    <a:pt x="462915" y="33909"/>
                    <a:pt x="33909" y="462915"/>
                    <a:pt x="33909" y="992251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716000" y="2596896"/>
            <a:ext cx="1463040" cy="1463040"/>
            <a:chOff x="0" y="0"/>
            <a:chExt cx="1950720" cy="1950720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2386567" y="2620775"/>
            <a:ext cx="574043" cy="574043"/>
            <a:chOff x="0" y="0"/>
            <a:chExt cx="765391" cy="76539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65429" cy="765302"/>
            </a:xfrm>
            <a:custGeom>
              <a:avLst/>
              <a:gdLst/>
              <a:ahLst/>
              <a:cxnLst/>
              <a:rect l="l" t="t" r="r" b="b"/>
              <a:pathLst>
                <a:path w="765429" h="76530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2399264" y="2633472"/>
            <a:ext cx="548640" cy="548640"/>
            <a:chOff x="0" y="0"/>
            <a:chExt cx="73152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73152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399264" y="4297680"/>
            <a:ext cx="4206240" cy="1280160"/>
            <a:chOff x="0" y="0"/>
            <a:chExt cx="5608320" cy="17068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608320" cy="1706880"/>
            </a:xfrm>
            <a:custGeom>
              <a:avLst/>
              <a:gdLst/>
              <a:ahLst/>
              <a:cxnLst/>
              <a:rect l="l" t="t" r="r" b="b"/>
              <a:pathLst>
                <a:path w="5608320" h="170688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22" b="-1402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76200"/>
              <a:ext cx="5608320" cy="1783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08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Global</a:t>
              </a:r>
            </a:p>
            <a:p>
              <a:pPr algn="ctr">
                <a:lnSpc>
                  <a:spcPts val="4608"/>
                </a:lnSpc>
              </a:pPr>
              <a:r>
                <a:rPr lang="en-US" sz="3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Expansion 🌍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399264" y="5669280"/>
            <a:ext cx="4206240" cy="1005840"/>
            <a:chOff x="0" y="0"/>
            <a:chExt cx="5608320" cy="13411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76200"/>
              <a:ext cx="560832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Southeast Asia &amp; Middle East by 2029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01703" y="7211063"/>
            <a:ext cx="16484603" cy="2402843"/>
            <a:chOff x="0" y="0"/>
            <a:chExt cx="21979471" cy="3203791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21945599" cy="3169920"/>
            </a:xfrm>
            <a:custGeom>
              <a:avLst/>
              <a:gdLst/>
              <a:ahLst/>
              <a:cxnLst/>
              <a:rect l="l" t="t" r="r" b="b"/>
              <a:pathLst>
                <a:path w="21945599" h="3169920">
                  <a:moveTo>
                    <a:pt x="0" y="0"/>
                  </a:moveTo>
                  <a:lnTo>
                    <a:pt x="21945599" y="0"/>
                  </a:lnTo>
                  <a:lnTo>
                    <a:pt x="2194559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4D94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21979382" cy="3203702"/>
            </a:xfrm>
            <a:custGeom>
              <a:avLst/>
              <a:gdLst/>
              <a:ahLst/>
              <a:cxnLst/>
              <a:rect l="l" t="t" r="r" b="b"/>
              <a:pathLst>
                <a:path w="21979382" h="320370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3186811"/>
                  </a:lnTo>
                  <a:cubicBezTo>
                    <a:pt x="21979382" y="3196209"/>
                    <a:pt x="21971763" y="3203702"/>
                    <a:pt x="2196249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1962490" y="3169920"/>
                  </a:lnTo>
                  <a:lnTo>
                    <a:pt x="21962490" y="3186811"/>
                  </a:lnTo>
                  <a:lnTo>
                    <a:pt x="21945600" y="31868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94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901703" y="7211063"/>
            <a:ext cx="16484603" cy="98555"/>
            <a:chOff x="0" y="0"/>
            <a:chExt cx="21979471" cy="131407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21945599" cy="97536"/>
            </a:xfrm>
            <a:custGeom>
              <a:avLst/>
              <a:gdLst/>
              <a:ahLst/>
              <a:cxnLst/>
              <a:rect l="l" t="t" r="r" b="b"/>
              <a:pathLst>
                <a:path w="21945599" h="97536">
                  <a:moveTo>
                    <a:pt x="0" y="0"/>
                  </a:moveTo>
                  <a:lnTo>
                    <a:pt x="21945599" y="0"/>
                  </a:lnTo>
                  <a:lnTo>
                    <a:pt x="219455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21979382" cy="131320"/>
            </a:xfrm>
            <a:custGeom>
              <a:avLst/>
              <a:gdLst/>
              <a:ahLst/>
              <a:cxnLst/>
              <a:rect l="l" t="t" r="r" b="b"/>
              <a:pathLst>
                <a:path w="21979382" h="131320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14427"/>
                  </a:lnTo>
                  <a:cubicBezTo>
                    <a:pt x="21979382" y="123825"/>
                    <a:pt x="21971763" y="131318"/>
                    <a:pt x="219624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1962490" y="97536"/>
                  </a:lnTo>
                  <a:lnTo>
                    <a:pt x="21962490" y="114427"/>
                  </a:lnTo>
                  <a:lnTo>
                    <a:pt x="21945600" y="114427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371600" y="7534656"/>
            <a:ext cx="1554480" cy="1554480"/>
            <a:chOff x="0" y="0"/>
            <a:chExt cx="2072640" cy="2072640"/>
          </a:xfrm>
        </p:grpSpPr>
        <p:sp>
          <p:nvSpPr>
            <p:cNvPr id="81" name="Freeform 81" descr="preencoded.png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3200400" y="7278624"/>
            <a:ext cx="13716000" cy="2231136"/>
            <a:chOff x="0" y="0"/>
            <a:chExt cx="18288000" cy="297484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8288000" cy="2974848"/>
            </a:xfrm>
            <a:custGeom>
              <a:avLst/>
              <a:gdLst/>
              <a:ahLst/>
              <a:cxnLst/>
              <a:rect l="l" t="t" r="r" b="b"/>
              <a:pathLst>
                <a:path w="18288000" h="2974848">
                  <a:moveTo>
                    <a:pt x="0" y="0"/>
                  </a:moveTo>
                  <a:lnTo>
                    <a:pt x="18288000" y="0"/>
                  </a:lnTo>
                  <a:lnTo>
                    <a:pt x="18288000" y="2974848"/>
                  </a:lnTo>
                  <a:lnTo>
                    <a:pt x="0" y="2974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785" b="-69785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61925"/>
              <a:ext cx="18288000" cy="3136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64"/>
                </a:lnSpc>
              </a:pPr>
              <a:r>
                <a:rPr lang="en-US" sz="44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"We don't just build an app…</a:t>
              </a:r>
            </a:p>
            <a:p>
              <a:pPr algn="l">
                <a:lnSpc>
                  <a:spcPts val="6864"/>
                </a:lnSpc>
              </a:pPr>
              <a:r>
                <a:rPr lang="en-US" sz="44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 build better relationships."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-12697" y="9679943"/>
            <a:ext cx="18313403" cy="619763"/>
            <a:chOff x="0" y="0"/>
            <a:chExt cx="24417871" cy="82635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24383999" cy="792480"/>
            </a:xfrm>
            <a:custGeom>
              <a:avLst/>
              <a:gdLst/>
              <a:ahLst/>
              <a:cxnLst/>
              <a:rect l="l" t="t" r="r" b="b"/>
              <a:pathLst>
                <a:path w="24383999" h="792480">
                  <a:moveTo>
                    <a:pt x="0" y="0"/>
                  </a:moveTo>
                  <a:lnTo>
                    <a:pt x="24383999" y="0"/>
                  </a:lnTo>
                  <a:lnTo>
                    <a:pt x="24383999" y="79248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rgbClr val="1A0545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24417782" cy="826264"/>
            </a:xfrm>
            <a:custGeom>
              <a:avLst/>
              <a:gdLst/>
              <a:ahLst/>
              <a:cxnLst/>
              <a:rect l="l" t="t" r="r" b="b"/>
              <a:pathLst>
                <a:path w="24417782" h="826264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09371"/>
                  </a:lnTo>
                  <a:cubicBezTo>
                    <a:pt x="24417782" y="818769"/>
                    <a:pt x="24410163" y="826262"/>
                    <a:pt x="24400890" y="826262"/>
                  </a:cubicBezTo>
                  <a:lnTo>
                    <a:pt x="16891" y="826262"/>
                  </a:lnTo>
                  <a:cubicBezTo>
                    <a:pt x="7620" y="826389"/>
                    <a:pt x="0" y="818769"/>
                    <a:pt x="0" y="809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9371"/>
                  </a:lnTo>
                  <a:lnTo>
                    <a:pt x="16891" y="809371"/>
                  </a:lnTo>
                  <a:lnTo>
                    <a:pt x="16891" y="792480"/>
                  </a:lnTo>
                  <a:lnTo>
                    <a:pt x="24400890" y="792480"/>
                  </a:lnTo>
                  <a:lnTo>
                    <a:pt x="24400890" y="809371"/>
                  </a:lnTo>
                  <a:lnTo>
                    <a:pt x="24384000" y="8093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0545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548640" y="9692640"/>
            <a:ext cx="17190720" cy="594360"/>
            <a:chOff x="0" y="0"/>
            <a:chExt cx="22920960" cy="79248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2920961" cy="792480"/>
            </a:xfrm>
            <a:custGeom>
              <a:avLst/>
              <a:gdLst/>
              <a:ahLst/>
              <a:cxnLst/>
              <a:rect l="l" t="t" r="r" b="b"/>
              <a:pathLst>
                <a:path w="22920961" h="792480">
                  <a:moveTo>
                    <a:pt x="0" y="0"/>
                  </a:moveTo>
                  <a:lnTo>
                    <a:pt x="22920961" y="0"/>
                  </a:lnTo>
                  <a:lnTo>
                    <a:pt x="22920961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567" b="-513567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22920960" cy="830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contact@</a:t>
              </a:r>
              <a:r>
                <a:rPr lang="en-US" dirty="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premo.</a:t>
              </a:r>
              <a:r>
                <a:rPr lang="en-US" sz="1800" dirty="0">
                  <a:solidFill>
                    <a:srgbClr val="C4B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 |  Amritansh Kumar Pandey 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910</Words>
  <Application>Microsoft Office PowerPoint</Application>
  <PresentationFormat>Custom</PresentationFormat>
  <Paragraphs>227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AmritanshPandey_RKGIT_HeartBridge.pptx</dc:title>
  <dc:creator>Amritansh Pandey</dc:creator>
  <cp:lastModifiedBy>Amritansh Pandey</cp:lastModifiedBy>
  <cp:revision>16</cp:revision>
  <dcterms:created xsi:type="dcterms:W3CDTF">2006-08-16T00:00:00Z</dcterms:created>
  <dcterms:modified xsi:type="dcterms:W3CDTF">2026-04-15T14:33:57Z</dcterms:modified>
  <dc:identifier>DAHEpYA2Ido</dc:identifier>
</cp:coreProperties>
</file>